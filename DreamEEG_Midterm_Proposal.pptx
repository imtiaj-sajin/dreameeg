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29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1C7293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DreamEEG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94360" y="32461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Imagery BCIs for People with ALS and Locked-In Syndrome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1792" y="4251960"/>
            <a:ext cx="274320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Proposal Presentation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43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Sajin  |  Saif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18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48706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7240" y="2020824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020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25880" y="1783080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ALS / locked-in patients, a brain-based channel is often the only way left to communicate.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2715768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77240" y="2953512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25880" y="2715768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EEG-BCIs rely on motor imagery — but motor control is exactly what ALS breaks down.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548640" y="3648456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77240" y="38862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772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25880" y="3648456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imagery (VI) is a motor-free alternative, but has very few open, task-specific datasets.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48640" y="458114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EAF3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77240" y="4818888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7240" y="4818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25880" y="4581144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VI dataset (Gao et al., 2026) is validated only within-subject — no proof it works on a new, unseen person.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548640" y="5513832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77240" y="5751576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77240" y="5751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25880" y="5513832"/>
            <a:ext cx="10149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user currently needs a long calibration session — the main barrier to real-world use.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49808" y="20299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71600" y="1993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decoding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71600" y="235915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group of people; test on a completely new, unseen subject (leave-one-subject-out).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64808" y="20299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64808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086600" y="19933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calibration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086600" y="235915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transfer learning to see how little target-user data is needed for acceptable accuracy.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50215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49808" y="3703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4980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371600" y="36667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371600" y="403250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EEGNet against a CNN-Transformer backbone (EEG Conformer / DBConformer).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63640" y="3502152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464808" y="37033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464808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086600" y="366674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stability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086600" y="403250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session 1, test on session 2, for the 19 subjects recorded on two days.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5175504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749808" y="53766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371600" y="5340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benchmark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71600" y="57058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fully reproducible cross-subject benchmark — the first for this dataset.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263640" y="5175504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464808" y="53766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464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086600" y="534009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relevance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086600" y="5705856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aims at usable, low-setup VI-BCIs for ALS / locked-in patients.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623517" y="493776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73152" cy="21488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4672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backbones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28600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Lawhern et al. 2018 — EEGNet, the compact CNN standard baseline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et al. 2022 — EEG Conformer, CNN + Transformer, SOTA on MI/emotion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2025 — DBConformer, dual-branch, 8× fewer params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263640" y="1783080"/>
            <a:ext cx="73152" cy="214884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19672" y="19202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imagery datasets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519672" y="228600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Gao et al. 2026 — our target VI dataset, within-subject only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Wilson et al. 2023 — semantic-concept VI dataset (comparison point)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Kilmarx et al. 2024 — VI is feasible but high-variability, modest accuracy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187952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4187952"/>
            <a:ext cx="73152" cy="2148840"/>
          </a:xfrm>
          <a:prstGeom prst="rect">
            <a:avLst/>
          </a:prstGeom>
          <a:solidFill>
            <a:srgbClr val="2E7D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04672" y="4325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&amp; transfer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" y="4690872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 2025 — group-to-individual transfer (closest prior idea)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Junqueira et al. 2024 — Euclidean Alignment reliably aids cross-subject decoding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Wu, Jiang &amp; Peng 2022 — tutorial on EEG transfer-learning methods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63640" y="4187952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B"/>
          </a:solidFill>
          <a:ln w="12700">
            <a:solidFill>
              <a:srgbClr val="E1EA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63640" y="4187952"/>
            <a:ext cx="73152" cy="2148840"/>
          </a:xfrm>
          <a:prstGeom prst="rect">
            <a:avLst/>
          </a:prstGeom>
          <a:solidFill>
            <a:srgbClr val="4A5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19672" y="432511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BCIs for ALS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19672" y="4690872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Birbaumer et al. 1999 — first EEG spelling device for paralysed patients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Vansteensel et al. 2016 — fully implanted BCI in locked-in ALS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Willett et al. 2023 — 62 wpm speech neuroprosthesis (invasive frontier)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1206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trained across multiple subjects, combined with Euclidean Alignment and transfer learning, can decode visual imagery in a new, unseen subject with little to no calibration.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2081174" cy="2331720"/>
          </a:xfrm>
          <a:prstGeom prst="roundRect">
            <a:avLst>
              <a:gd name="adj" fmla="val 439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85800" y="3703320"/>
            <a:ext cx="1806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baseline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480560"/>
            <a:ext cx="18068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within-subject EEGNet &amp; CSP+KNN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638044" y="4155948"/>
            <a:ext cx="1481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794406" y="3246120"/>
            <a:ext cx="2081174" cy="2331720"/>
          </a:xfrm>
          <a:prstGeom prst="roundRect">
            <a:avLst>
              <a:gd name="adj" fmla="val 439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31566" y="3383280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931566" y="3703320"/>
            <a:ext cx="1806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Cross-subject benchmark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931566" y="4480560"/>
            <a:ext cx="18068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evaluation + Euclidean Alignment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883810" y="4155948"/>
            <a:ext cx="1481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040173" y="3246120"/>
            <a:ext cx="2081174" cy="2331720"/>
          </a:xfrm>
          <a:prstGeom prst="roundRect">
            <a:avLst>
              <a:gd name="adj" fmla="val 439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77333" y="3383280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177333" y="3703320"/>
            <a:ext cx="1806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model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77333" y="4480560"/>
            <a:ext cx="18068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CNN-Transformer vs. EEGNet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129577" y="4155948"/>
            <a:ext cx="1481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7285939" y="3246120"/>
            <a:ext cx="2081174" cy="2331720"/>
          </a:xfrm>
          <a:prstGeom prst="roundRect">
            <a:avLst>
              <a:gd name="adj" fmla="val 4394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423099" y="3383280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423099" y="3703320"/>
            <a:ext cx="1806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23099" y="4480560"/>
            <a:ext cx="18068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/ light calibration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375343" y="4155948"/>
            <a:ext cx="14813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9531706" y="3246120"/>
            <a:ext cx="2081174" cy="2331720"/>
          </a:xfrm>
          <a:prstGeom prst="roundRect">
            <a:avLst>
              <a:gd name="adj" fmla="val 4394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9668866" y="3383280"/>
            <a:ext cx="18068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9668866" y="3703320"/>
            <a:ext cx="18068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test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668866" y="4480560"/>
            <a:ext cx="180685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day 1 → test day 2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5486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Expected Contribution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0"/>
          </a:xfrm>
          <a:prstGeom prst="line">
            <a:avLst/>
          </a:prstGeom>
          <a:noFill/>
          <a:ln w="12700">
            <a:solidFill>
              <a:srgbClr val="DCE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Gao et al. (2026)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48640" y="2350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289864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865376" y="224028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65376" y="2350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32ch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865376" y="289864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1000 Hz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182112" y="224028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82112" y="2350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182112" y="289864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98848" y="2240280"/>
            <a:ext cx="1207008" cy="1051560"/>
          </a:xfrm>
          <a:prstGeom prst="roundRect">
            <a:avLst>
              <a:gd name="adj" fmla="val 6957"/>
            </a:avLst>
          </a:prstGeom>
          <a:solidFill>
            <a:srgbClr val="CFE8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498848" y="2350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498848" y="2898648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sessions/subj.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8640" y="3429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Categories: figures, animals, objects  •  Open BIDS format, baseline code released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now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48640" y="452628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published Jan. 2026 — no cross-subject benchmark exists yet.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8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has prior BCI/EEG research and a completed Q1 publication.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080760" y="1783080"/>
            <a:ext cx="5532120" cy="4480560"/>
          </a:xfrm>
          <a:prstGeom prst="roundRect">
            <a:avLst>
              <a:gd name="adj" fmla="val 2449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355080" y="1965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355080" y="2423160"/>
            <a:ext cx="4983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cross-subject (LOSO) benchmark on this VI dataset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how much per-user calibration can be removed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CNN-Transformer vs. classical baselines, evaluated fairly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Cross-session stability results (day 1 → day 2)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open, reproducible pipeline — data, code, results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a Q1 venue (J. Neural Eng. / IEEE TNSRE)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355080" y="5349240"/>
            <a:ext cx="4983480" cy="0"/>
          </a:xfrm>
          <a:prstGeom prst="line">
            <a:avLst/>
          </a:prstGeom>
          <a:noFill/>
          <a:ln w="12700">
            <a:solidFill>
              <a:srgbClr val="2E4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355080" y="5486400"/>
            <a:ext cx="4983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goal: usable, low-setup communication BCIs for people with ALS or locked-in syndrome.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645920"/>
            <a:ext cx="3840480" cy="384048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0" y="28803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DreamEEG</a:t>
            </a:r>
            <a:endParaRPr lang="en-US" sz="1200" dirty="0">
              <a:solidFill>
                <a:srgbClr val="9FB6C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FB6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Sajin | Saif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667</Words>
  <Application>Microsoft Office PowerPoint</Application>
  <PresentationFormat>Widescreen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Imtiaj Alam Sajin</cp:lastModifiedBy>
  <cp:revision>2</cp:revision>
  <dcterms:created xsi:type="dcterms:W3CDTF">2026-07-18T12:21:30Z</dcterms:created>
  <dcterms:modified xsi:type="dcterms:W3CDTF">2026-07-20T12:18:50Z</dcterms:modified>
</cp:coreProperties>
</file>