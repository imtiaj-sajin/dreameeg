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0" r:id="rId4"/>
    <p:sldId id="258" r:id="rId5"/>
    <p:sldId id="259"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542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15 seconds. Say: DreamEEG. We want to build a better visual-imagery decoder so a brain-computer interface can actually help people with ALS and locked-in syndrome communicate.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Amyotrophic lateral sclerosis (ALS), often called Lou Gehrig's disease, is a progressive, fatal neurological disorder. It destroys motor neurons.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Just hit the key facts: open VI dataset, brand new. 22 healthy people, two sessions. 32 channels at 1000 Hz. 10 images in three categories, abstract to concrete. Each trial is 17 seconds and we decode only the 4 second imagery window. Task is 3-class within a category, chance 33%. Open with baseline code, so we start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Lead with the primary aim: a stronger, combined decoder that beats </a:t>
            </a:r>
            <a:r>
              <a:rPr dirty="0" err="1"/>
              <a:t>EEGNet</a:t>
            </a:r>
            <a:r>
              <a:rPr dirty="0"/>
              <a:t>. Number 2 targets the weak object category specifically. Number 3 keep it lightweight so it can actually reach patients. Numbers 4 and 5 are robustness: stable over days, and generalizing to new users to cut calibration. Number 6 is the point of all of it: reliable enough to help ALS and locked-in users. Do not read all six, group them.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decoders: </a:t>
            </a:r>
            <a:r>
              <a:rPr dirty="0" err="1"/>
              <a:t>EEGNet</a:t>
            </a:r>
            <a:r>
              <a:rPr dirty="0"/>
              <a:t> is our baseline; Conformer and </a:t>
            </a:r>
            <a:r>
              <a:rPr dirty="0" err="1"/>
              <a:t>DBConformer</a:t>
            </a:r>
            <a:r>
              <a:rPr dirty="0"/>
              <a:t> show </a:t>
            </a:r>
            <a:r>
              <a:rPr dirty="0" err="1"/>
              <a:t>CNN+Transformer</a:t>
            </a:r>
            <a:r>
              <a:rPr dirty="0"/>
              <a:t> hybrids win, the basis for our model. Two, VI work including our dataset at 75% and 62%. Three, robustness and transfer: how we stay stable and cut calibration. Four, clinical ALS BCIs: powerful but slow or invasive, which is why a better non-invasive VI decoder matters.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not a generic CNN plus Transformer. We adapt our own decoder, VC-</a:t>
            </a:r>
            <a:r>
              <a:rPr dirty="0" err="1"/>
              <a:t>DATNet</a:t>
            </a:r>
            <a:r>
              <a:rPr dirty="0"/>
              <a:t>, which topped a ten-architecture inner-speech benchmark at about 131K parameters. Read the hypothesis, then the diagram left to right. A shared front end: a multi-scale temporal convolution with four kernel sizes, then a </a:t>
            </a:r>
            <a:r>
              <a:rPr dirty="0" err="1"/>
              <a:t>depthwise</a:t>
            </a:r>
            <a:r>
              <a:rPr dirty="0"/>
              <a:t> spatial convolution. Then the key part, a dual-stream encoder: one stream on the mean, one on the log-variance, which is band-limited power, the ERD and ERS cue that </a:t>
            </a:r>
            <a:r>
              <a:rPr dirty="0" err="1"/>
              <a:t>EEGNet</a:t>
            </a:r>
            <a:r>
              <a:rPr dirty="0"/>
              <a:t> throws away by pooling only the mean. Each stream goes through a four-layer gated dual-attention Transformer. We concatenate, run a small conv head, and classify the three within-category items. That variance stream plus gated attention is our edge, and the model stays small enough for real assistive use.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Left: their </a:t>
            </a:r>
            <a:r>
              <a:rPr dirty="0" err="1"/>
              <a:t>EEGNet</a:t>
            </a:r>
            <a:r>
              <a:rPr dirty="0"/>
              <a:t> baseline is the honest bar, 75% figures and animals but only 62% on objects, chance 33%. Objects is where the real headroom is, and it is the hardest case. Right: our four-step plan: reproduce the baseline, build the hybrid model, specifically attack the object category, then add alignment and transfer for robustness. Be explicit: success means a measurable gain over </a:t>
            </a:r>
            <a:r>
              <a:rPr dirty="0" err="1"/>
              <a:t>EEGNet</a:t>
            </a:r>
            <a:r>
              <a:rPr dirty="0"/>
              <a:t>, not a vague promise. Skip or compress this slide first if over time.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5 minutes. Likely questions: Why not motor imagery? ALS breaks it. Why will a hybrid beat EEGNet? Conformer and DBConformer already show CNN plus Transformer wins on EEG. Why is objects low? Fine structural similarity, for example watch vs scissors, so attention and augmentation should help. Cross-subject? A robustness goal, not the headline. Scope: keep 3-class within-category, or extend to 10-class, invite the teacher's view.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figshare.com/articles/dataset/EEG_Dataset_for_Visual_Imagery/30227503"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www.nature.com/articles/s41597-025-06512-5"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90500"/>
            <a:ext cx="12191695" cy="7048500"/>
          </a:xfrm>
          <a:prstGeom prst="rect">
            <a:avLst/>
          </a:prstGeom>
          <a:gradFill>
            <a:gsLst>
              <a:gs pos="0">
                <a:srgbClr val="0E1A2B"/>
              </a:gs>
              <a:gs pos="100000">
                <a:srgbClr val="1A2A4A"/>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Freeform 4"/>
          <p:cNvSpPr/>
          <p:nvPr/>
        </p:nvSpPr>
        <p:spPr>
          <a:xfrm>
            <a:off x="0" y="5642184"/>
            <a:ext cx="12191695" cy="294918"/>
          </a:xfrm>
          <a:custGeom>
            <a:avLst/>
            <a:gdLst/>
            <a:ahLst/>
            <a:cxnLst/>
            <a:rect l="l" t="t" r="r" b="b"/>
            <a:pathLst>
              <a:path w="12191695" h="294918">
                <a:moveTo>
                  <a:pt x="0" y="164256"/>
                </a:moveTo>
                <a:lnTo>
                  <a:pt x="47072" y="179634"/>
                </a:lnTo>
                <a:lnTo>
                  <a:pt x="94144" y="194722"/>
                </a:lnTo>
                <a:lnTo>
                  <a:pt x="141216" y="209240"/>
                </a:lnTo>
                <a:lnTo>
                  <a:pt x="188288" y="222921"/>
                </a:lnTo>
                <a:lnTo>
                  <a:pt x="235360" y="235525"/>
                </a:lnTo>
                <a:lnTo>
                  <a:pt x="282433" y="246842"/>
                </a:lnTo>
                <a:lnTo>
                  <a:pt x="329505" y="256696"/>
                </a:lnTo>
                <a:lnTo>
                  <a:pt x="376577" y="264954"/>
                </a:lnTo>
                <a:lnTo>
                  <a:pt x="423649" y="271528"/>
                </a:lnTo>
                <a:lnTo>
                  <a:pt x="470721" y="276376"/>
                </a:lnTo>
                <a:lnTo>
                  <a:pt x="517794" y="279501"/>
                </a:lnTo>
                <a:lnTo>
                  <a:pt x="564866" y="280953"/>
                </a:lnTo>
                <a:lnTo>
                  <a:pt x="611938" y="280826"/>
                </a:lnTo>
                <a:lnTo>
                  <a:pt x="659010" y="279252"/>
                </a:lnTo>
                <a:lnTo>
                  <a:pt x="706082" y="276399"/>
                </a:lnTo>
                <a:lnTo>
                  <a:pt x="753154" y="272462"/>
                </a:lnTo>
                <a:lnTo>
                  <a:pt x="800227" y="267660"/>
                </a:lnTo>
                <a:lnTo>
                  <a:pt x="847299" y="262224"/>
                </a:lnTo>
                <a:lnTo>
                  <a:pt x="894371" y="256393"/>
                </a:lnTo>
                <a:lnTo>
                  <a:pt x="941443" y="250402"/>
                </a:lnTo>
                <a:lnTo>
                  <a:pt x="988515" y="244479"/>
                </a:lnTo>
                <a:lnTo>
                  <a:pt x="1035588" y="238833"/>
                </a:lnTo>
                <a:lnTo>
                  <a:pt x="1082660" y="233652"/>
                </a:lnTo>
                <a:lnTo>
                  <a:pt x="1129732" y="229092"/>
                </a:lnTo>
                <a:lnTo>
                  <a:pt x="1176804" y="225276"/>
                </a:lnTo>
                <a:lnTo>
                  <a:pt x="1223876" y="222288"/>
                </a:lnTo>
                <a:lnTo>
                  <a:pt x="1270948" y="220173"/>
                </a:lnTo>
                <a:lnTo>
                  <a:pt x="1318021" y="218935"/>
                </a:lnTo>
                <a:lnTo>
                  <a:pt x="1365093" y="218535"/>
                </a:lnTo>
                <a:lnTo>
                  <a:pt x="1412165" y="218899"/>
                </a:lnTo>
                <a:lnTo>
                  <a:pt x="1459237" y="219916"/>
                </a:lnTo>
                <a:lnTo>
                  <a:pt x="1506309" y="221444"/>
                </a:lnTo>
                <a:lnTo>
                  <a:pt x="1553382" y="223317"/>
                </a:lnTo>
                <a:lnTo>
                  <a:pt x="1600454" y="225349"/>
                </a:lnTo>
                <a:lnTo>
                  <a:pt x="1647526" y="227343"/>
                </a:lnTo>
                <a:lnTo>
                  <a:pt x="1694598" y="229100"/>
                </a:lnTo>
                <a:lnTo>
                  <a:pt x="1741670" y="230421"/>
                </a:lnTo>
                <a:lnTo>
                  <a:pt x="1788742" y="231121"/>
                </a:lnTo>
                <a:lnTo>
                  <a:pt x="1835815" y="231034"/>
                </a:lnTo>
                <a:lnTo>
                  <a:pt x="1882887" y="230016"/>
                </a:lnTo>
                <a:lnTo>
                  <a:pt x="1929959" y="227957"/>
                </a:lnTo>
                <a:lnTo>
                  <a:pt x="1977031" y="224782"/>
                </a:lnTo>
                <a:lnTo>
                  <a:pt x="2024103" y="220454"/>
                </a:lnTo>
                <a:lnTo>
                  <a:pt x="2071176" y="214979"/>
                </a:lnTo>
                <a:lnTo>
                  <a:pt x="2118248" y="208404"/>
                </a:lnTo>
                <a:lnTo>
                  <a:pt x="2165320" y="200820"/>
                </a:lnTo>
                <a:lnTo>
                  <a:pt x="2212392" y="192354"/>
                </a:lnTo>
                <a:lnTo>
                  <a:pt x="2259464" y="183173"/>
                </a:lnTo>
                <a:lnTo>
                  <a:pt x="2306536" y="173473"/>
                </a:lnTo>
                <a:lnTo>
                  <a:pt x="2353609" y="163478"/>
                </a:lnTo>
                <a:lnTo>
                  <a:pt x="2400681" y="153431"/>
                </a:lnTo>
                <a:lnTo>
                  <a:pt x="2447753" y="143585"/>
                </a:lnTo>
                <a:lnTo>
                  <a:pt x="2494825" y="134200"/>
                </a:lnTo>
                <a:lnTo>
                  <a:pt x="2541897" y="125529"/>
                </a:lnTo>
                <a:lnTo>
                  <a:pt x="2588970" y="117814"/>
                </a:lnTo>
                <a:lnTo>
                  <a:pt x="2636042" y="111278"/>
                </a:lnTo>
                <a:lnTo>
                  <a:pt x="2683114" y="106115"/>
                </a:lnTo>
                <a:lnTo>
                  <a:pt x="2730186" y="102489"/>
                </a:lnTo>
                <a:lnTo>
                  <a:pt x="2777258" y="100521"/>
                </a:lnTo>
                <a:lnTo>
                  <a:pt x="2824330" y="100292"/>
                </a:lnTo>
                <a:lnTo>
                  <a:pt x="2871403" y="101836"/>
                </a:lnTo>
                <a:lnTo>
                  <a:pt x="2918475" y="105139"/>
                </a:lnTo>
                <a:lnTo>
                  <a:pt x="2965547" y="110141"/>
                </a:lnTo>
                <a:lnTo>
                  <a:pt x="3012619" y="116735"/>
                </a:lnTo>
                <a:lnTo>
                  <a:pt x="3059691" y="124771"/>
                </a:lnTo>
                <a:lnTo>
                  <a:pt x="3106764" y="134061"/>
                </a:lnTo>
                <a:lnTo>
                  <a:pt x="3153836" y="144383"/>
                </a:lnTo>
                <a:lnTo>
                  <a:pt x="3200908" y="155488"/>
                </a:lnTo>
                <a:lnTo>
                  <a:pt x="3247980" y="167108"/>
                </a:lnTo>
                <a:lnTo>
                  <a:pt x="3295052" y="178964"/>
                </a:lnTo>
                <a:lnTo>
                  <a:pt x="3342124" y="190770"/>
                </a:lnTo>
                <a:lnTo>
                  <a:pt x="3389197" y="202250"/>
                </a:lnTo>
                <a:lnTo>
                  <a:pt x="3436269" y="213136"/>
                </a:lnTo>
                <a:lnTo>
                  <a:pt x="3483341" y="223184"/>
                </a:lnTo>
                <a:lnTo>
                  <a:pt x="3530413" y="232176"/>
                </a:lnTo>
                <a:lnTo>
                  <a:pt x="3577485" y="239927"/>
                </a:lnTo>
                <a:lnTo>
                  <a:pt x="3624558" y="246293"/>
                </a:lnTo>
                <a:lnTo>
                  <a:pt x="3671630" y="251169"/>
                </a:lnTo>
                <a:lnTo>
                  <a:pt x="3718702" y="254497"/>
                </a:lnTo>
                <a:lnTo>
                  <a:pt x="3765774" y="256264"/>
                </a:lnTo>
                <a:lnTo>
                  <a:pt x="3812846" y="256502"/>
                </a:lnTo>
                <a:lnTo>
                  <a:pt x="3859918" y="255284"/>
                </a:lnTo>
                <a:lnTo>
                  <a:pt x="3906991" y="252725"/>
                </a:lnTo>
                <a:lnTo>
                  <a:pt x="3954063" y="248975"/>
                </a:lnTo>
                <a:lnTo>
                  <a:pt x="4001135" y="244211"/>
                </a:lnTo>
                <a:lnTo>
                  <a:pt x="4048207" y="238634"/>
                </a:lnTo>
                <a:lnTo>
                  <a:pt x="4095279" y="232462"/>
                </a:lnTo>
                <a:lnTo>
                  <a:pt x="4142352" y="225917"/>
                </a:lnTo>
                <a:lnTo>
                  <a:pt x="4189424" y="219225"/>
                </a:lnTo>
                <a:lnTo>
                  <a:pt x="4236496" y="212601"/>
                </a:lnTo>
                <a:lnTo>
                  <a:pt x="4283568" y="206246"/>
                </a:lnTo>
                <a:lnTo>
                  <a:pt x="4330640" y="200339"/>
                </a:lnTo>
                <a:lnTo>
                  <a:pt x="4377712" y="195031"/>
                </a:lnTo>
                <a:lnTo>
                  <a:pt x="4424785" y="190440"/>
                </a:lnTo>
                <a:lnTo>
                  <a:pt x="4471857" y="186646"/>
                </a:lnTo>
                <a:lnTo>
                  <a:pt x="4518929" y="183690"/>
                </a:lnTo>
                <a:lnTo>
                  <a:pt x="4566001" y="181575"/>
                </a:lnTo>
                <a:lnTo>
                  <a:pt x="4613073" y="180260"/>
                </a:lnTo>
                <a:lnTo>
                  <a:pt x="4660146" y="179669"/>
                </a:lnTo>
                <a:lnTo>
                  <a:pt x="4707218" y="179688"/>
                </a:lnTo>
                <a:lnTo>
                  <a:pt x="4754290" y="180174"/>
                </a:lnTo>
                <a:lnTo>
                  <a:pt x="4801362" y="180957"/>
                </a:lnTo>
                <a:lnTo>
                  <a:pt x="4848434" y="181850"/>
                </a:lnTo>
                <a:lnTo>
                  <a:pt x="4895506" y="182651"/>
                </a:lnTo>
                <a:lnTo>
                  <a:pt x="4942579" y="183155"/>
                </a:lnTo>
                <a:lnTo>
                  <a:pt x="4989651" y="183160"/>
                </a:lnTo>
                <a:lnTo>
                  <a:pt x="5036723" y="182476"/>
                </a:lnTo>
                <a:lnTo>
                  <a:pt x="5083795" y="180928"/>
                </a:lnTo>
                <a:lnTo>
                  <a:pt x="5130867" y="178369"/>
                </a:lnTo>
                <a:lnTo>
                  <a:pt x="5177940" y="174681"/>
                </a:lnTo>
                <a:lnTo>
                  <a:pt x="5225012" y="169783"/>
                </a:lnTo>
                <a:lnTo>
                  <a:pt x="5272084" y="163634"/>
                </a:lnTo>
                <a:lnTo>
                  <a:pt x="5319156" y="156234"/>
                </a:lnTo>
                <a:lnTo>
                  <a:pt x="5366228" y="147629"/>
                </a:lnTo>
                <a:lnTo>
                  <a:pt x="5413300" y="137907"/>
                </a:lnTo>
                <a:lnTo>
                  <a:pt x="5460373" y="127197"/>
                </a:lnTo>
                <a:lnTo>
                  <a:pt x="5507445" y="115666"/>
                </a:lnTo>
                <a:lnTo>
                  <a:pt x="5554517" y="103518"/>
                </a:lnTo>
                <a:lnTo>
                  <a:pt x="5601589" y="90982"/>
                </a:lnTo>
                <a:lnTo>
                  <a:pt x="5648661" y="78312"/>
                </a:lnTo>
                <a:lnTo>
                  <a:pt x="5695734" y="65774"/>
                </a:lnTo>
                <a:lnTo>
                  <a:pt x="5742806" y="53642"/>
                </a:lnTo>
                <a:lnTo>
                  <a:pt x="5789878" y="42189"/>
                </a:lnTo>
                <a:lnTo>
                  <a:pt x="5836950" y="31677"/>
                </a:lnTo>
                <a:lnTo>
                  <a:pt x="5884022" y="22352"/>
                </a:lnTo>
                <a:lnTo>
                  <a:pt x="5931094" y="14433"/>
                </a:lnTo>
                <a:lnTo>
                  <a:pt x="5978167" y="8109"/>
                </a:lnTo>
                <a:lnTo>
                  <a:pt x="6025239" y="3531"/>
                </a:lnTo>
                <a:lnTo>
                  <a:pt x="6072311" y="807"/>
                </a:lnTo>
                <a:lnTo>
                  <a:pt x="6119383" y="0"/>
                </a:lnTo>
                <a:lnTo>
                  <a:pt x="6166455" y="1125"/>
                </a:lnTo>
                <a:lnTo>
                  <a:pt x="6213528" y="4150"/>
                </a:lnTo>
                <a:lnTo>
                  <a:pt x="6260600" y="8995"/>
                </a:lnTo>
                <a:lnTo>
                  <a:pt x="6307672" y="15535"/>
                </a:lnTo>
                <a:lnTo>
                  <a:pt x="6354744" y="23605"/>
                </a:lnTo>
                <a:lnTo>
                  <a:pt x="6401816" y="33005"/>
                </a:lnTo>
                <a:lnTo>
                  <a:pt x="6448888" y="43504"/>
                </a:lnTo>
                <a:lnTo>
                  <a:pt x="6495961" y="54848"/>
                </a:lnTo>
                <a:lnTo>
                  <a:pt x="6543033" y="66769"/>
                </a:lnTo>
                <a:lnTo>
                  <a:pt x="6590105" y="78992"/>
                </a:lnTo>
                <a:lnTo>
                  <a:pt x="6637177" y="91244"/>
                </a:lnTo>
                <a:lnTo>
                  <a:pt x="6684249" y="103259"/>
                </a:lnTo>
                <a:lnTo>
                  <a:pt x="6731322" y="114791"/>
                </a:lnTo>
                <a:lnTo>
                  <a:pt x="6778394" y="125617"/>
                </a:lnTo>
                <a:lnTo>
                  <a:pt x="6825466" y="135545"/>
                </a:lnTo>
                <a:lnTo>
                  <a:pt x="6872538" y="144417"/>
                </a:lnTo>
                <a:lnTo>
                  <a:pt x="6919610" y="152118"/>
                </a:lnTo>
                <a:lnTo>
                  <a:pt x="6966682" y="158573"/>
                </a:lnTo>
                <a:lnTo>
                  <a:pt x="7013755" y="163753"/>
                </a:lnTo>
                <a:lnTo>
                  <a:pt x="7060827" y="167670"/>
                </a:lnTo>
                <a:lnTo>
                  <a:pt x="7107899" y="170379"/>
                </a:lnTo>
                <a:lnTo>
                  <a:pt x="7154971" y="171975"/>
                </a:lnTo>
                <a:lnTo>
                  <a:pt x="7202043" y="172588"/>
                </a:lnTo>
                <a:lnTo>
                  <a:pt x="7249116" y="172375"/>
                </a:lnTo>
                <a:lnTo>
                  <a:pt x="7296188" y="171518"/>
                </a:lnTo>
                <a:lnTo>
                  <a:pt x="7343260" y="170215"/>
                </a:lnTo>
                <a:lnTo>
                  <a:pt x="7390332" y="168671"/>
                </a:lnTo>
                <a:lnTo>
                  <a:pt x="7437404" y="167095"/>
                </a:lnTo>
                <a:lnTo>
                  <a:pt x="7484476" y="165685"/>
                </a:lnTo>
                <a:lnTo>
                  <a:pt x="7531549" y="164628"/>
                </a:lnTo>
                <a:lnTo>
                  <a:pt x="7578621" y="164089"/>
                </a:lnTo>
                <a:lnTo>
                  <a:pt x="7625693" y="164204"/>
                </a:lnTo>
                <a:lnTo>
                  <a:pt x="7672765" y="165080"/>
                </a:lnTo>
                <a:lnTo>
                  <a:pt x="7719837" y="166784"/>
                </a:lnTo>
                <a:lnTo>
                  <a:pt x="7766910" y="169346"/>
                </a:lnTo>
                <a:lnTo>
                  <a:pt x="7813982" y="172756"/>
                </a:lnTo>
                <a:lnTo>
                  <a:pt x="7861054" y="176963"/>
                </a:lnTo>
                <a:lnTo>
                  <a:pt x="7908126" y="181877"/>
                </a:lnTo>
                <a:lnTo>
                  <a:pt x="7955198" y="187373"/>
                </a:lnTo>
                <a:lnTo>
                  <a:pt x="8002270" y="193294"/>
                </a:lnTo>
                <a:lnTo>
                  <a:pt x="8049343" y="199456"/>
                </a:lnTo>
                <a:lnTo>
                  <a:pt x="8096415" y="205655"/>
                </a:lnTo>
                <a:lnTo>
                  <a:pt x="8143487" y="211676"/>
                </a:lnTo>
                <a:lnTo>
                  <a:pt x="8190559" y="217295"/>
                </a:lnTo>
                <a:lnTo>
                  <a:pt x="8237631" y="222293"/>
                </a:lnTo>
                <a:lnTo>
                  <a:pt x="8284704" y="226460"/>
                </a:lnTo>
                <a:lnTo>
                  <a:pt x="8331776" y="229604"/>
                </a:lnTo>
                <a:lnTo>
                  <a:pt x="8378848" y="231556"/>
                </a:lnTo>
                <a:lnTo>
                  <a:pt x="8425920" y="232180"/>
                </a:lnTo>
                <a:lnTo>
                  <a:pt x="8472992" y="231376"/>
                </a:lnTo>
                <a:lnTo>
                  <a:pt x="8520064" y="229083"/>
                </a:lnTo>
                <a:lnTo>
                  <a:pt x="8567137" y="225285"/>
                </a:lnTo>
                <a:lnTo>
                  <a:pt x="8614209" y="220011"/>
                </a:lnTo>
                <a:lnTo>
                  <a:pt x="8661281" y="213334"/>
                </a:lnTo>
                <a:lnTo>
                  <a:pt x="8708353" y="205371"/>
                </a:lnTo>
                <a:lnTo>
                  <a:pt x="8755425" y="196281"/>
                </a:lnTo>
                <a:lnTo>
                  <a:pt x="8802498" y="186258"/>
                </a:lnTo>
                <a:lnTo>
                  <a:pt x="8849570" y="175530"/>
                </a:lnTo>
                <a:lnTo>
                  <a:pt x="8896642" y="164347"/>
                </a:lnTo>
                <a:lnTo>
                  <a:pt x="8943714" y="152980"/>
                </a:lnTo>
                <a:lnTo>
                  <a:pt x="8990786" y="141708"/>
                </a:lnTo>
                <a:lnTo>
                  <a:pt x="9037858" y="130813"/>
                </a:lnTo>
                <a:lnTo>
                  <a:pt x="9084931" y="120570"/>
                </a:lnTo>
                <a:lnTo>
                  <a:pt x="9132003" y="111239"/>
                </a:lnTo>
                <a:lnTo>
                  <a:pt x="9179075" y="103060"/>
                </a:lnTo>
                <a:lnTo>
                  <a:pt x="9226147" y="96241"/>
                </a:lnTo>
                <a:lnTo>
                  <a:pt x="9273219" y="90957"/>
                </a:lnTo>
                <a:lnTo>
                  <a:pt x="9320292" y="87340"/>
                </a:lnTo>
                <a:lnTo>
                  <a:pt x="9367364" y="85480"/>
                </a:lnTo>
                <a:lnTo>
                  <a:pt x="9414436" y="85420"/>
                </a:lnTo>
                <a:lnTo>
                  <a:pt x="9461508" y="87154"/>
                </a:lnTo>
                <a:lnTo>
                  <a:pt x="9508580" y="90629"/>
                </a:lnTo>
                <a:lnTo>
                  <a:pt x="9555652" y="95749"/>
                </a:lnTo>
                <a:lnTo>
                  <a:pt x="9602725" y="102373"/>
                </a:lnTo>
                <a:lnTo>
                  <a:pt x="9649797" y="110326"/>
                </a:lnTo>
                <a:lnTo>
                  <a:pt x="9696869" y="119398"/>
                </a:lnTo>
                <a:lnTo>
                  <a:pt x="9743941" y="129357"/>
                </a:lnTo>
                <a:lnTo>
                  <a:pt x="9791013" y="139951"/>
                </a:lnTo>
                <a:lnTo>
                  <a:pt x="9838086" y="150922"/>
                </a:lnTo>
                <a:lnTo>
                  <a:pt x="9885158" y="162007"/>
                </a:lnTo>
                <a:lnTo>
                  <a:pt x="9932230" y="172952"/>
                </a:lnTo>
                <a:lnTo>
                  <a:pt x="9979302" y="183517"/>
                </a:lnTo>
                <a:lnTo>
                  <a:pt x="10026374" y="193481"/>
                </a:lnTo>
                <a:lnTo>
                  <a:pt x="10073446" y="202656"/>
                </a:lnTo>
                <a:lnTo>
                  <a:pt x="10120519" y="210882"/>
                </a:lnTo>
                <a:lnTo>
                  <a:pt x="10167591" y="218042"/>
                </a:lnTo>
                <a:lnTo>
                  <a:pt x="10214663" y="224055"/>
                </a:lnTo>
                <a:lnTo>
                  <a:pt x="10261735" y="228886"/>
                </a:lnTo>
                <a:lnTo>
                  <a:pt x="10308807" y="232541"/>
                </a:lnTo>
                <a:lnTo>
                  <a:pt x="10355880" y="235066"/>
                </a:lnTo>
                <a:lnTo>
                  <a:pt x="10402952" y="236547"/>
                </a:lnTo>
                <a:lnTo>
                  <a:pt x="10450024" y="237104"/>
                </a:lnTo>
                <a:lnTo>
                  <a:pt x="10497096" y="236887"/>
                </a:lnTo>
                <a:lnTo>
                  <a:pt x="10544168" y="236069"/>
                </a:lnTo>
                <a:lnTo>
                  <a:pt x="10591241" y="234840"/>
                </a:lnTo>
                <a:lnTo>
                  <a:pt x="10638313" y="233398"/>
                </a:lnTo>
                <a:lnTo>
                  <a:pt x="10685385" y="231943"/>
                </a:lnTo>
                <a:lnTo>
                  <a:pt x="10732457" y="230669"/>
                </a:lnTo>
                <a:lnTo>
                  <a:pt x="10779529" y="229758"/>
                </a:lnTo>
                <a:lnTo>
                  <a:pt x="10826601" y="229368"/>
                </a:lnTo>
                <a:lnTo>
                  <a:pt x="10873674" y="229634"/>
                </a:lnTo>
                <a:lnTo>
                  <a:pt x="10920746" y="230657"/>
                </a:lnTo>
                <a:lnTo>
                  <a:pt x="10967818" y="232500"/>
                </a:lnTo>
                <a:lnTo>
                  <a:pt x="11014890" y="235191"/>
                </a:lnTo>
                <a:lnTo>
                  <a:pt x="11061962" y="238715"/>
                </a:lnTo>
                <a:lnTo>
                  <a:pt x="11109035" y="243016"/>
                </a:lnTo>
                <a:lnTo>
                  <a:pt x="11156107" y="247999"/>
                </a:lnTo>
                <a:lnTo>
                  <a:pt x="11203179" y="253533"/>
                </a:lnTo>
                <a:lnTo>
                  <a:pt x="11250251" y="259451"/>
                </a:lnTo>
                <a:lnTo>
                  <a:pt x="11297323" y="265563"/>
                </a:lnTo>
                <a:lnTo>
                  <a:pt x="11344395" y="271654"/>
                </a:lnTo>
                <a:lnTo>
                  <a:pt x="11391468" y="277496"/>
                </a:lnTo>
                <a:lnTo>
                  <a:pt x="11438540" y="282853"/>
                </a:lnTo>
                <a:lnTo>
                  <a:pt x="11485612" y="287490"/>
                </a:lnTo>
                <a:lnTo>
                  <a:pt x="11532684" y="291183"/>
                </a:lnTo>
                <a:lnTo>
                  <a:pt x="11579756" y="293720"/>
                </a:lnTo>
                <a:lnTo>
                  <a:pt x="11626829" y="294918"/>
                </a:lnTo>
                <a:lnTo>
                  <a:pt x="11673901" y="294622"/>
                </a:lnTo>
                <a:lnTo>
                  <a:pt x="11720973" y="292711"/>
                </a:lnTo>
                <a:lnTo>
                  <a:pt x="11768045" y="289109"/>
                </a:lnTo>
                <a:lnTo>
                  <a:pt x="11815117" y="283782"/>
                </a:lnTo>
                <a:lnTo>
                  <a:pt x="11862189" y="276742"/>
                </a:lnTo>
                <a:lnTo>
                  <a:pt x="11909262" y="268047"/>
                </a:lnTo>
                <a:lnTo>
                  <a:pt x="11956334" y="257803"/>
                </a:lnTo>
                <a:lnTo>
                  <a:pt x="12003406" y="246157"/>
                </a:lnTo>
                <a:lnTo>
                  <a:pt x="12050478" y="233295"/>
                </a:lnTo>
                <a:lnTo>
                  <a:pt x="12097550" y="219441"/>
                </a:lnTo>
                <a:lnTo>
                  <a:pt x="12144623" y="204843"/>
                </a:lnTo>
                <a:lnTo>
                  <a:pt x="12191695" y="189773"/>
                </a:lnTo>
              </a:path>
            </a:pathLst>
          </a:custGeom>
          <a:noFill/>
          <a:ln w="19050">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0" y="5945753"/>
            <a:ext cx="12191695" cy="204474"/>
          </a:xfrm>
          <a:custGeom>
            <a:avLst/>
            <a:gdLst/>
            <a:ahLst/>
            <a:cxnLst/>
            <a:rect l="l" t="t" r="r" b="b"/>
            <a:pathLst>
              <a:path w="12191695" h="204474">
                <a:moveTo>
                  <a:pt x="0" y="204474"/>
                </a:moveTo>
                <a:lnTo>
                  <a:pt x="47072" y="201153"/>
                </a:lnTo>
                <a:lnTo>
                  <a:pt x="94144" y="197109"/>
                </a:lnTo>
                <a:lnTo>
                  <a:pt x="141216" y="192498"/>
                </a:lnTo>
                <a:lnTo>
                  <a:pt x="188288" y="187485"/>
                </a:lnTo>
                <a:lnTo>
                  <a:pt x="235360" y="182238"/>
                </a:lnTo>
                <a:lnTo>
                  <a:pt x="282433" y="176921"/>
                </a:lnTo>
                <a:lnTo>
                  <a:pt x="329505" y="171690"/>
                </a:lnTo>
                <a:lnTo>
                  <a:pt x="376577" y="166689"/>
                </a:lnTo>
                <a:lnTo>
                  <a:pt x="423649" y="162043"/>
                </a:lnTo>
                <a:lnTo>
                  <a:pt x="470721" y="157856"/>
                </a:lnTo>
                <a:lnTo>
                  <a:pt x="517794" y="154207"/>
                </a:lnTo>
                <a:lnTo>
                  <a:pt x="564866" y="151149"/>
                </a:lnTo>
                <a:lnTo>
                  <a:pt x="611938" y="148706"/>
                </a:lnTo>
                <a:lnTo>
                  <a:pt x="659010" y="146874"/>
                </a:lnTo>
                <a:lnTo>
                  <a:pt x="706082" y="145622"/>
                </a:lnTo>
                <a:lnTo>
                  <a:pt x="753154" y="144892"/>
                </a:lnTo>
                <a:lnTo>
                  <a:pt x="800227" y="144603"/>
                </a:lnTo>
                <a:lnTo>
                  <a:pt x="847299" y="144655"/>
                </a:lnTo>
                <a:lnTo>
                  <a:pt x="894371" y="144929"/>
                </a:lnTo>
                <a:lnTo>
                  <a:pt x="941443" y="145298"/>
                </a:lnTo>
                <a:lnTo>
                  <a:pt x="988515" y="145626"/>
                </a:lnTo>
                <a:lnTo>
                  <a:pt x="1035588" y="145778"/>
                </a:lnTo>
                <a:lnTo>
                  <a:pt x="1082660" y="145621"/>
                </a:lnTo>
                <a:lnTo>
                  <a:pt x="1129732" y="145031"/>
                </a:lnTo>
                <a:lnTo>
                  <a:pt x="1176804" y="143901"/>
                </a:lnTo>
                <a:lnTo>
                  <a:pt x="1223876" y="142140"/>
                </a:lnTo>
                <a:lnTo>
                  <a:pt x="1270948" y="139679"/>
                </a:lnTo>
                <a:lnTo>
                  <a:pt x="1318021" y="136476"/>
                </a:lnTo>
                <a:lnTo>
                  <a:pt x="1365093" y="132515"/>
                </a:lnTo>
                <a:lnTo>
                  <a:pt x="1412165" y="127809"/>
                </a:lnTo>
                <a:lnTo>
                  <a:pt x="1459237" y="122399"/>
                </a:lnTo>
                <a:lnTo>
                  <a:pt x="1506309" y="116356"/>
                </a:lnTo>
                <a:lnTo>
                  <a:pt x="1553382" y="109777"/>
                </a:lnTo>
                <a:lnTo>
                  <a:pt x="1600454" y="102781"/>
                </a:lnTo>
                <a:lnTo>
                  <a:pt x="1647526" y="95510"/>
                </a:lnTo>
                <a:lnTo>
                  <a:pt x="1694598" y="88120"/>
                </a:lnTo>
                <a:lnTo>
                  <a:pt x="1741670" y="80781"/>
                </a:lnTo>
                <a:lnTo>
                  <a:pt x="1788742" y="73667"/>
                </a:lnTo>
                <a:lnTo>
                  <a:pt x="1835815" y="66953"/>
                </a:lnTo>
                <a:lnTo>
                  <a:pt x="1882887" y="60812"/>
                </a:lnTo>
                <a:lnTo>
                  <a:pt x="1929959" y="55403"/>
                </a:lnTo>
                <a:lnTo>
                  <a:pt x="1977031" y="50873"/>
                </a:lnTo>
                <a:lnTo>
                  <a:pt x="2024103" y="47347"/>
                </a:lnTo>
                <a:lnTo>
                  <a:pt x="2071176" y="44926"/>
                </a:lnTo>
                <a:lnTo>
                  <a:pt x="2118248" y="43683"/>
                </a:lnTo>
                <a:lnTo>
                  <a:pt x="2165320" y="43662"/>
                </a:lnTo>
                <a:lnTo>
                  <a:pt x="2212392" y="44874"/>
                </a:lnTo>
                <a:lnTo>
                  <a:pt x="2259464" y="47297"/>
                </a:lnTo>
                <a:lnTo>
                  <a:pt x="2306536" y="50877"/>
                </a:lnTo>
                <a:lnTo>
                  <a:pt x="2353609" y="55530"/>
                </a:lnTo>
                <a:lnTo>
                  <a:pt x="2400681" y="61143"/>
                </a:lnTo>
                <a:lnTo>
                  <a:pt x="2447753" y="67576"/>
                </a:lnTo>
                <a:lnTo>
                  <a:pt x="2494825" y="74671"/>
                </a:lnTo>
                <a:lnTo>
                  <a:pt x="2541897" y="82249"/>
                </a:lnTo>
                <a:lnTo>
                  <a:pt x="2588970" y="90122"/>
                </a:lnTo>
                <a:lnTo>
                  <a:pt x="2636042" y="98096"/>
                </a:lnTo>
                <a:lnTo>
                  <a:pt x="2683114" y="105976"/>
                </a:lnTo>
                <a:lnTo>
                  <a:pt x="2730186" y="113572"/>
                </a:lnTo>
                <a:lnTo>
                  <a:pt x="2777258" y="120706"/>
                </a:lnTo>
                <a:lnTo>
                  <a:pt x="2824330" y="127215"/>
                </a:lnTo>
                <a:lnTo>
                  <a:pt x="2871403" y="132956"/>
                </a:lnTo>
                <a:lnTo>
                  <a:pt x="2918475" y="137812"/>
                </a:lnTo>
                <a:lnTo>
                  <a:pt x="2965547" y="141692"/>
                </a:lnTo>
                <a:lnTo>
                  <a:pt x="3012619" y="144536"/>
                </a:lnTo>
                <a:lnTo>
                  <a:pt x="3059691" y="146316"/>
                </a:lnTo>
                <a:lnTo>
                  <a:pt x="3106764" y="147032"/>
                </a:lnTo>
                <a:lnTo>
                  <a:pt x="3153836" y="146719"/>
                </a:lnTo>
                <a:lnTo>
                  <a:pt x="3200908" y="145437"/>
                </a:lnTo>
                <a:lnTo>
                  <a:pt x="3247980" y="143276"/>
                </a:lnTo>
                <a:lnTo>
                  <a:pt x="3295052" y="140346"/>
                </a:lnTo>
                <a:lnTo>
                  <a:pt x="3342124" y="136777"/>
                </a:lnTo>
                <a:lnTo>
                  <a:pt x="3389197" y="132714"/>
                </a:lnTo>
                <a:lnTo>
                  <a:pt x="3436269" y="128309"/>
                </a:lnTo>
                <a:lnTo>
                  <a:pt x="3483341" y="123720"/>
                </a:lnTo>
                <a:lnTo>
                  <a:pt x="3530413" y="119100"/>
                </a:lnTo>
                <a:lnTo>
                  <a:pt x="3577485" y="114599"/>
                </a:lnTo>
                <a:lnTo>
                  <a:pt x="3624558" y="110351"/>
                </a:lnTo>
                <a:lnTo>
                  <a:pt x="3671630" y="106477"/>
                </a:lnTo>
                <a:lnTo>
                  <a:pt x="3718702" y="103073"/>
                </a:lnTo>
                <a:lnTo>
                  <a:pt x="3765774" y="100216"/>
                </a:lnTo>
                <a:lnTo>
                  <a:pt x="3812846" y="97954"/>
                </a:lnTo>
                <a:lnTo>
                  <a:pt x="3859918" y="96308"/>
                </a:lnTo>
                <a:lnTo>
                  <a:pt x="3906991" y="95272"/>
                </a:lnTo>
                <a:lnTo>
                  <a:pt x="3954063" y="94811"/>
                </a:lnTo>
                <a:lnTo>
                  <a:pt x="4001135" y="94867"/>
                </a:lnTo>
                <a:lnTo>
                  <a:pt x="4048207" y="95354"/>
                </a:lnTo>
                <a:lnTo>
                  <a:pt x="4095279" y="96170"/>
                </a:lnTo>
                <a:lnTo>
                  <a:pt x="4142352" y="97195"/>
                </a:lnTo>
                <a:lnTo>
                  <a:pt x="4189424" y="98295"/>
                </a:lnTo>
                <a:lnTo>
                  <a:pt x="4236496" y="99334"/>
                </a:lnTo>
                <a:lnTo>
                  <a:pt x="4283568" y="100169"/>
                </a:lnTo>
                <a:lnTo>
                  <a:pt x="4330640" y="100665"/>
                </a:lnTo>
                <a:lnTo>
                  <a:pt x="4377712" y="100694"/>
                </a:lnTo>
                <a:lnTo>
                  <a:pt x="4424785" y="100140"/>
                </a:lnTo>
                <a:lnTo>
                  <a:pt x="4471857" y="98909"/>
                </a:lnTo>
                <a:lnTo>
                  <a:pt x="4518929" y="96927"/>
                </a:lnTo>
                <a:lnTo>
                  <a:pt x="4566001" y="94146"/>
                </a:lnTo>
                <a:lnTo>
                  <a:pt x="4613073" y="90547"/>
                </a:lnTo>
                <a:lnTo>
                  <a:pt x="4660146" y="86137"/>
                </a:lnTo>
                <a:lnTo>
                  <a:pt x="4707218" y="80956"/>
                </a:lnTo>
                <a:lnTo>
                  <a:pt x="4754290" y="75073"/>
                </a:lnTo>
                <a:lnTo>
                  <a:pt x="4801362" y="68583"/>
                </a:lnTo>
                <a:lnTo>
                  <a:pt x="4848434" y="61607"/>
                </a:lnTo>
                <a:lnTo>
                  <a:pt x="4895506" y="54290"/>
                </a:lnTo>
                <a:lnTo>
                  <a:pt x="4942579" y="46792"/>
                </a:lnTo>
                <a:lnTo>
                  <a:pt x="4989651" y="39288"/>
                </a:lnTo>
                <a:lnTo>
                  <a:pt x="5036723" y="31961"/>
                </a:lnTo>
                <a:lnTo>
                  <a:pt x="5083795" y="24996"/>
                </a:lnTo>
                <a:lnTo>
                  <a:pt x="5130867" y="18576"/>
                </a:lnTo>
                <a:lnTo>
                  <a:pt x="5177940" y="12875"/>
                </a:lnTo>
                <a:lnTo>
                  <a:pt x="5225012" y="8052"/>
                </a:lnTo>
                <a:lnTo>
                  <a:pt x="5272084" y="4250"/>
                </a:lnTo>
                <a:lnTo>
                  <a:pt x="5319156" y="1584"/>
                </a:lnTo>
                <a:lnTo>
                  <a:pt x="5366228" y="148"/>
                </a:lnTo>
                <a:lnTo>
                  <a:pt x="5413300" y="0"/>
                </a:lnTo>
                <a:lnTo>
                  <a:pt x="5460373" y="1170"/>
                </a:lnTo>
                <a:lnTo>
                  <a:pt x="5507445" y="3654"/>
                </a:lnTo>
                <a:lnTo>
                  <a:pt x="5554517" y="7416"/>
                </a:lnTo>
                <a:lnTo>
                  <a:pt x="5601589" y="12386"/>
                </a:lnTo>
                <a:lnTo>
                  <a:pt x="5648661" y="18466"/>
                </a:lnTo>
                <a:lnTo>
                  <a:pt x="5695734" y="25530"/>
                </a:lnTo>
                <a:lnTo>
                  <a:pt x="5742806" y="33431"/>
                </a:lnTo>
                <a:lnTo>
                  <a:pt x="5789878" y="42000"/>
                </a:lnTo>
                <a:lnTo>
                  <a:pt x="5836950" y="51056"/>
                </a:lnTo>
                <a:lnTo>
                  <a:pt x="5884022" y="60410"/>
                </a:lnTo>
                <a:lnTo>
                  <a:pt x="5931094" y="69869"/>
                </a:lnTo>
                <a:lnTo>
                  <a:pt x="5978167" y="79245"/>
                </a:lnTo>
                <a:lnTo>
                  <a:pt x="6025239" y="88357"/>
                </a:lnTo>
                <a:lnTo>
                  <a:pt x="6072311" y="97037"/>
                </a:lnTo>
                <a:lnTo>
                  <a:pt x="6119383" y="105137"/>
                </a:lnTo>
                <a:lnTo>
                  <a:pt x="6166455" y="112531"/>
                </a:lnTo>
                <a:lnTo>
                  <a:pt x="6213528" y="119118"/>
                </a:lnTo>
                <a:lnTo>
                  <a:pt x="6260600" y="124826"/>
                </a:lnTo>
                <a:lnTo>
                  <a:pt x="6307672" y="129614"/>
                </a:lnTo>
                <a:lnTo>
                  <a:pt x="6354744" y="133469"/>
                </a:lnTo>
                <a:lnTo>
                  <a:pt x="6401816" y="136411"/>
                </a:lnTo>
                <a:lnTo>
                  <a:pt x="6448888" y="138486"/>
                </a:lnTo>
                <a:lnTo>
                  <a:pt x="6495961" y="139766"/>
                </a:lnTo>
                <a:lnTo>
                  <a:pt x="6543033" y="140349"/>
                </a:lnTo>
                <a:lnTo>
                  <a:pt x="6590105" y="140349"/>
                </a:lnTo>
                <a:lnTo>
                  <a:pt x="6637177" y="139896"/>
                </a:lnTo>
                <a:lnTo>
                  <a:pt x="6684249" y="139129"/>
                </a:lnTo>
                <a:lnTo>
                  <a:pt x="6731322" y="138192"/>
                </a:lnTo>
                <a:lnTo>
                  <a:pt x="6778394" y="137227"/>
                </a:lnTo>
                <a:lnTo>
                  <a:pt x="6825466" y="136372"/>
                </a:lnTo>
                <a:lnTo>
                  <a:pt x="6872538" y="135751"/>
                </a:lnTo>
                <a:lnTo>
                  <a:pt x="6919610" y="135473"/>
                </a:lnTo>
                <a:lnTo>
                  <a:pt x="6966682" y="135628"/>
                </a:lnTo>
                <a:lnTo>
                  <a:pt x="7013755" y="136283"/>
                </a:lnTo>
                <a:lnTo>
                  <a:pt x="7060827" y="137478"/>
                </a:lnTo>
                <a:lnTo>
                  <a:pt x="7107899" y="139227"/>
                </a:lnTo>
                <a:lnTo>
                  <a:pt x="7154971" y="141516"/>
                </a:lnTo>
                <a:lnTo>
                  <a:pt x="7202043" y="144304"/>
                </a:lnTo>
                <a:lnTo>
                  <a:pt x="7249116" y="147522"/>
                </a:lnTo>
                <a:lnTo>
                  <a:pt x="7296188" y="151080"/>
                </a:lnTo>
                <a:lnTo>
                  <a:pt x="7343260" y="154866"/>
                </a:lnTo>
                <a:lnTo>
                  <a:pt x="7390332" y="158751"/>
                </a:lnTo>
                <a:lnTo>
                  <a:pt x="7437404" y="162594"/>
                </a:lnTo>
                <a:lnTo>
                  <a:pt x="7484476" y="166247"/>
                </a:lnTo>
                <a:lnTo>
                  <a:pt x="7531549" y="169558"/>
                </a:lnTo>
                <a:lnTo>
                  <a:pt x="7578621" y="172381"/>
                </a:lnTo>
                <a:lnTo>
                  <a:pt x="7625693" y="174577"/>
                </a:lnTo>
                <a:lnTo>
                  <a:pt x="7672765" y="176021"/>
                </a:lnTo>
                <a:lnTo>
                  <a:pt x="7719837" y="176604"/>
                </a:lnTo>
                <a:lnTo>
                  <a:pt x="7766910" y="176244"/>
                </a:lnTo>
                <a:lnTo>
                  <a:pt x="7813982" y="174881"/>
                </a:lnTo>
                <a:lnTo>
                  <a:pt x="7861054" y="172486"/>
                </a:lnTo>
                <a:lnTo>
                  <a:pt x="7908126" y="169057"/>
                </a:lnTo>
                <a:lnTo>
                  <a:pt x="7955198" y="164626"/>
                </a:lnTo>
                <a:lnTo>
                  <a:pt x="8002270" y="159255"/>
                </a:lnTo>
                <a:lnTo>
                  <a:pt x="8049343" y="153034"/>
                </a:lnTo>
                <a:lnTo>
                  <a:pt x="8096415" y="146080"/>
                </a:lnTo>
                <a:lnTo>
                  <a:pt x="8143487" y="138537"/>
                </a:lnTo>
                <a:lnTo>
                  <a:pt x="8190559" y="130566"/>
                </a:lnTo>
                <a:lnTo>
                  <a:pt x="8237631" y="122344"/>
                </a:lnTo>
                <a:lnTo>
                  <a:pt x="8284704" y="114060"/>
                </a:lnTo>
                <a:lnTo>
                  <a:pt x="8331776" y="105907"/>
                </a:lnTo>
                <a:lnTo>
                  <a:pt x="8378848" y="98077"/>
                </a:lnTo>
                <a:lnTo>
                  <a:pt x="8425920" y="90756"/>
                </a:lnTo>
                <a:lnTo>
                  <a:pt x="8472992" y="84117"/>
                </a:lnTo>
                <a:lnTo>
                  <a:pt x="8520064" y="78318"/>
                </a:lnTo>
                <a:lnTo>
                  <a:pt x="8567137" y="73494"/>
                </a:lnTo>
                <a:lnTo>
                  <a:pt x="8614209" y="69755"/>
                </a:lnTo>
                <a:lnTo>
                  <a:pt x="8661281" y="67181"/>
                </a:lnTo>
                <a:lnTo>
                  <a:pt x="8708353" y="65822"/>
                </a:lnTo>
                <a:lnTo>
                  <a:pt x="8755425" y="65694"/>
                </a:lnTo>
                <a:lnTo>
                  <a:pt x="8802498" y="66783"/>
                </a:lnTo>
                <a:lnTo>
                  <a:pt x="8849570" y="69040"/>
                </a:lnTo>
                <a:lnTo>
                  <a:pt x="8896642" y="72387"/>
                </a:lnTo>
                <a:lnTo>
                  <a:pt x="8943714" y="76718"/>
                </a:lnTo>
                <a:lnTo>
                  <a:pt x="8990786" y="81902"/>
                </a:lnTo>
                <a:lnTo>
                  <a:pt x="9037858" y="87789"/>
                </a:lnTo>
                <a:lnTo>
                  <a:pt x="9084931" y="94211"/>
                </a:lnTo>
                <a:lnTo>
                  <a:pt x="9132003" y="100994"/>
                </a:lnTo>
                <a:lnTo>
                  <a:pt x="9179075" y="107956"/>
                </a:lnTo>
                <a:lnTo>
                  <a:pt x="9226147" y="114917"/>
                </a:lnTo>
                <a:lnTo>
                  <a:pt x="9273219" y="121703"/>
                </a:lnTo>
                <a:lnTo>
                  <a:pt x="9320292" y="128154"/>
                </a:lnTo>
                <a:lnTo>
                  <a:pt x="9367364" y="134122"/>
                </a:lnTo>
                <a:lnTo>
                  <a:pt x="9414436" y="139485"/>
                </a:lnTo>
                <a:lnTo>
                  <a:pt x="9461508" y="144141"/>
                </a:lnTo>
                <a:lnTo>
                  <a:pt x="9508580" y="148018"/>
                </a:lnTo>
                <a:lnTo>
                  <a:pt x="9555652" y="151070"/>
                </a:lnTo>
                <a:lnTo>
                  <a:pt x="9602725" y="153282"/>
                </a:lnTo>
                <a:lnTo>
                  <a:pt x="9649797" y="154669"/>
                </a:lnTo>
                <a:lnTo>
                  <a:pt x="9696869" y="155271"/>
                </a:lnTo>
                <a:lnTo>
                  <a:pt x="9743941" y="155157"/>
                </a:lnTo>
                <a:lnTo>
                  <a:pt x="9791013" y="154417"/>
                </a:lnTo>
                <a:lnTo>
                  <a:pt x="9838086" y="153162"/>
                </a:lnTo>
                <a:lnTo>
                  <a:pt x="9885158" y="151515"/>
                </a:lnTo>
                <a:lnTo>
                  <a:pt x="9932230" y="149611"/>
                </a:lnTo>
                <a:lnTo>
                  <a:pt x="9979302" y="147590"/>
                </a:lnTo>
                <a:lnTo>
                  <a:pt x="10026374" y="145591"/>
                </a:lnTo>
                <a:lnTo>
                  <a:pt x="10073446" y="143747"/>
                </a:lnTo>
                <a:lnTo>
                  <a:pt x="10120519" y="142179"/>
                </a:lnTo>
                <a:lnTo>
                  <a:pt x="10167591" y="140995"/>
                </a:lnTo>
                <a:lnTo>
                  <a:pt x="10214663" y="140283"/>
                </a:lnTo>
                <a:lnTo>
                  <a:pt x="10261735" y="140107"/>
                </a:lnTo>
                <a:lnTo>
                  <a:pt x="10308807" y="140505"/>
                </a:lnTo>
                <a:lnTo>
                  <a:pt x="10355880" y="141490"/>
                </a:lnTo>
                <a:lnTo>
                  <a:pt x="10402952" y="143046"/>
                </a:lnTo>
                <a:lnTo>
                  <a:pt x="10450024" y="145127"/>
                </a:lnTo>
                <a:lnTo>
                  <a:pt x="10497096" y="147665"/>
                </a:lnTo>
                <a:lnTo>
                  <a:pt x="10544168" y="150563"/>
                </a:lnTo>
                <a:lnTo>
                  <a:pt x="10591241" y="153705"/>
                </a:lnTo>
                <a:lnTo>
                  <a:pt x="10638313" y="156957"/>
                </a:lnTo>
                <a:lnTo>
                  <a:pt x="10685385" y="160171"/>
                </a:lnTo>
                <a:lnTo>
                  <a:pt x="10732457" y="163191"/>
                </a:lnTo>
                <a:lnTo>
                  <a:pt x="10779529" y="165858"/>
                </a:lnTo>
                <a:lnTo>
                  <a:pt x="10826601" y="168015"/>
                </a:lnTo>
                <a:lnTo>
                  <a:pt x="10873674" y="169513"/>
                </a:lnTo>
                <a:lnTo>
                  <a:pt x="10920746" y="170216"/>
                </a:lnTo>
                <a:lnTo>
                  <a:pt x="10967818" y="170006"/>
                </a:lnTo>
                <a:lnTo>
                  <a:pt x="11014890" y="168787"/>
                </a:lnTo>
                <a:lnTo>
                  <a:pt x="11061962" y="166488"/>
                </a:lnTo>
                <a:lnTo>
                  <a:pt x="11109035" y="163067"/>
                </a:lnTo>
                <a:lnTo>
                  <a:pt x="11156107" y="158514"/>
                </a:lnTo>
                <a:lnTo>
                  <a:pt x="11203179" y="152850"/>
                </a:lnTo>
                <a:lnTo>
                  <a:pt x="11250251" y="146127"/>
                </a:lnTo>
                <a:lnTo>
                  <a:pt x="11297323" y="138428"/>
                </a:lnTo>
                <a:lnTo>
                  <a:pt x="11344395" y="129866"/>
                </a:lnTo>
                <a:lnTo>
                  <a:pt x="11391468" y="120578"/>
                </a:lnTo>
                <a:lnTo>
                  <a:pt x="11438540" y="110724"/>
                </a:lnTo>
                <a:lnTo>
                  <a:pt x="11485612" y="100481"/>
                </a:lnTo>
                <a:lnTo>
                  <a:pt x="11532684" y="90041"/>
                </a:lnTo>
                <a:lnTo>
                  <a:pt x="11579756" y="79601"/>
                </a:lnTo>
                <a:lnTo>
                  <a:pt x="11626829" y="69359"/>
                </a:lnTo>
                <a:lnTo>
                  <a:pt x="11673901" y="59513"/>
                </a:lnTo>
                <a:lnTo>
                  <a:pt x="11720973" y="50246"/>
                </a:lnTo>
                <a:lnTo>
                  <a:pt x="11768045" y="41729"/>
                </a:lnTo>
                <a:lnTo>
                  <a:pt x="11815117" y="34113"/>
                </a:lnTo>
                <a:lnTo>
                  <a:pt x="11862189" y="27525"/>
                </a:lnTo>
                <a:lnTo>
                  <a:pt x="11909262" y="22064"/>
                </a:lnTo>
                <a:lnTo>
                  <a:pt x="11956334" y="17798"/>
                </a:lnTo>
                <a:lnTo>
                  <a:pt x="12003406" y="14765"/>
                </a:lnTo>
                <a:lnTo>
                  <a:pt x="12050478" y="12969"/>
                </a:lnTo>
                <a:lnTo>
                  <a:pt x="12097550" y="12384"/>
                </a:lnTo>
                <a:lnTo>
                  <a:pt x="12144623" y="12950"/>
                </a:lnTo>
                <a:lnTo>
                  <a:pt x="12191695" y="14583"/>
                </a:lnTo>
              </a:path>
            </a:pathLst>
          </a:custGeom>
          <a:noFill/>
          <a:ln w="15240">
            <a:solidFill>
              <a:srgbClr val="24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993392"/>
            <a:ext cx="10424160" cy="1371600"/>
          </a:xfrm>
          <a:prstGeom prst="rect">
            <a:avLst/>
          </a:prstGeom>
          <a:noFill/>
        </p:spPr>
        <p:txBody>
          <a:bodyPr wrap="square" lIns="0" tIns="0" rIns="0" bIns="0" anchor="t">
            <a:spAutoFit/>
          </a:bodyPr>
          <a:lstStyle/>
          <a:p>
            <a:pPr algn="l"/>
            <a:r>
              <a:rPr sz="6400" b="1">
                <a:solidFill>
                  <a:srgbClr val="FFFFFF"/>
                </a:solidFill>
                <a:latin typeface="Segoe UI Semibold"/>
              </a:rPr>
              <a:t>Dream</a:t>
            </a:r>
            <a:r>
              <a:rPr sz="6400" b="1">
                <a:solidFill>
                  <a:srgbClr val="6C5CE7"/>
                </a:solidFill>
                <a:latin typeface="Segoe UI Semibold"/>
              </a:rPr>
              <a:t>EEG</a:t>
            </a:r>
          </a:p>
        </p:txBody>
      </p:sp>
      <p:sp>
        <p:nvSpPr>
          <p:cNvPr id="9" name="TextBox 8"/>
          <p:cNvSpPr txBox="1"/>
          <p:nvPr/>
        </p:nvSpPr>
        <p:spPr>
          <a:xfrm>
            <a:off x="914400" y="3182112"/>
            <a:ext cx="10241280" cy="806311"/>
          </a:xfrm>
          <a:prstGeom prst="rect">
            <a:avLst/>
          </a:prstGeom>
          <a:noFill/>
        </p:spPr>
        <p:txBody>
          <a:bodyPr wrap="square" lIns="0" tIns="0" rIns="0" bIns="0" anchor="t">
            <a:spAutoFit/>
          </a:bodyPr>
          <a:lstStyle/>
          <a:p>
            <a:pPr algn="l">
              <a:lnSpc>
                <a:spcPct val="110000"/>
              </a:lnSpc>
              <a:spcAft>
                <a:spcPts val="200"/>
              </a:spcAft>
            </a:pPr>
            <a:r>
              <a:rPr sz="2400" b="1" dirty="0">
                <a:solidFill>
                  <a:srgbClr val="E6EBF5"/>
                </a:solidFill>
                <a:latin typeface="Segoe UI Semibold"/>
              </a:rPr>
              <a:t>Visual Imagery Decoder</a:t>
            </a:r>
          </a:p>
          <a:p>
            <a:pPr algn="l">
              <a:lnSpc>
                <a:spcPct val="110000"/>
              </a:lnSpc>
              <a:spcAft>
                <a:spcPts val="200"/>
              </a:spcAft>
            </a:pPr>
            <a:r>
              <a:rPr sz="2400" b="0" dirty="0">
                <a:solidFill>
                  <a:srgbClr val="AEBAD2"/>
                </a:solidFill>
                <a:latin typeface="Segoe UI"/>
              </a:rPr>
              <a:t>for people with ALS &amp; Locked-In Syndrome</a:t>
            </a:r>
          </a:p>
        </p:txBody>
      </p:sp>
      <p:sp>
        <p:nvSpPr>
          <p:cNvPr id="11" name="TextBox 10"/>
          <p:cNvSpPr txBox="1"/>
          <p:nvPr/>
        </p:nvSpPr>
        <p:spPr>
          <a:xfrm>
            <a:off x="914400" y="4663440"/>
            <a:ext cx="10058400" cy="492443"/>
          </a:xfrm>
          <a:prstGeom prst="rect">
            <a:avLst/>
          </a:prstGeom>
          <a:noFill/>
        </p:spPr>
        <p:txBody>
          <a:bodyPr wrap="square" lIns="0" tIns="0" rIns="0" bIns="0" anchor="t">
            <a:spAutoFit/>
          </a:bodyPr>
          <a:lstStyle/>
          <a:p>
            <a:r>
              <a:rPr lang="en-US" sz="1600" dirty="0">
                <a:solidFill>
                  <a:srgbClr val="939EB0"/>
                </a:solidFill>
                <a:latin typeface="Segoe UI"/>
              </a:rPr>
              <a:t>Md. Imtiaj Alam Sajin:  26-94090-2</a:t>
            </a:r>
          </a:p>
          <a:p>
            <a:r>
              <a:rPr lang="en-US" sz="1600" b="0" dirty="0">
                <a:solidFill>
                  <a:srgbClr val="939EB0"/>
                </a:solidFill>
                <a:latin typeface="Segoe UI"/>
              </a:rPr>
              <a:t>Md. Samiul Islam Saif:  26-94151-2</a:t>
            </a:r>
            <a:endParaRPr sz="1600" b="0" dirty="0">
              <a:solidFill>
                <a:srgbClr val="939EB0"/>
              </a:solidFill>
              <a:latin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109728"/>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48640" y="530352"/>
            <a:ext cx="146304" cy="475488"/>
          </a:xfrm>
          <a:prstGeom prst="roundRect">
            <a:avLst>
              <a:gd name="adj" fmla="val 50000"/>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10058400" cy="274320"/>
          </a:xfrm>
          <a:prstGeom prst="rect">
            <a:avLst/>
          </a:prstGeom>
          <a:noFill/>
        </p:spPr>
        <p:txBody>
          <a:bodyPr wrap="square" lIns="0" tIns="0" rIns="0" bIns="0" anchor="t">
            <a:spAutoFit/>
          </a:bodyPr>
          <a:lstStyle/>
          <a:p>
            <a:pPr algn="l"/>
            <a:r>
              <a:rPr sz="1100" b="1" spc="220">
                <a:solidFill>
                  <a:srgbClr val="6C5CE7"/>
                </a:solidFill>
                <a:latin typeface="Segoe UI"/>
              </a:rPr>
              <a:t>MOTIVATION</a:t>
            </a:r>
          </a:p>
        </p:txBody>
      </p:sp>
      <p:sp>
        <p:nvSpPr>
          <p:cNvPr id="5" name="TextBox 4"/>
          <p:cNvSpPr txBox="1"/>
          <p:nvPr/>
        </p:nvSpPr>
        <p:spPr>
          <a:xfrm>
            <a:off x="822960" y="676656"/>
            <a:ext cx="10789920" cy="548640"/>
          </a:xfrm>
          <a:prstGeom prst="rect">
            <a:avLst/>
          </a:prstGeom>
          <a:noFill/>
        </p:spPr>
        <p:txBody>
          <a:bodyPr wrap="square" lIns="0" tIns="0" rIns="0" bIns="0" anchor="t">
            <a:spAutoFit/>
          </a:bodyPr>
          <a:lstStyle/>
          <a:p>
            <a:pPr algn="l"/>
            <a:r>
              <a:rPr sz="3000" b="1">
                <a:solidFill>
                  <a:srgbClr val="0E1A2B"/>
                </a:solidFill>
                <a:latin typeface="Segoe UI Semibold"/>
              </a:rPr>
              <a:t>Problem Statement</a:t>
            </a:r>
          </a:p>
        </p:txBody>
      </p:sp>
      <p:sp>
        <p:nvSpPr>
          <p:cNvPr id="6" name="Rectangle 5"/>
          <p:cNvSpPr/>
          <p:nvPr/>
        </p:nvSpPr>
        <p:spPr>
          <a:xfrm>
            <a:off x="548640" y="1298448"/>
            <a:ext cx="11094415" cy="16459"/>
          </a:xfrm>
          <a:prstGeom prst="rect">
            <a:avLst/>
          </a:prstGeom>
          <a:solidFill>
            <a:srgbClr val="DDE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94944" y="1572768"/>
            <a:ext cx="6757416" cy="841248"/>
          </a:xfrm>
          <a:prstGeom prst="roundRect">
            <a:avLst>
              <a:gd name="adj" fmla="val 10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04672" y="1755648"/>
            <a:ext cx="475488" cy="475488"/>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755648"/>
            <a:ext cx="475488" cy="475488"/>
          </a:xfrm>
          <a:prstGeom prst="rect">
            <a:avLst/>
          </a:prstGeom>
          <a:noFill/>
        </p:spPr>
        <p:txBody>
          <a:bodyPr wrap="square" lIns="0" tIns="0" rIns="0" bIns="0" anchor="ctr">
            <a:spAutoFit/>
          </a:bodyPr>
          <a:lstStyle/>
          <a:p>
            <a:pPr algn="ctr"/>
            <a:r>
              <a:rPr sz="1600" b="1">
                <a:solidFill>
                  <a:srgbClr val="FFFFFF"/>
                </a:solidFill>
                <a:latin typeface="Segoe UI Semibold"/>
              </a:rPr>
              <a:t>1</a:t>
            </a:r>
          </a:p>
        </p:txBody>
      </p:sp>
      <p:sp>
        <p:nvSpPr>
          <p:cNvPr id="11" name="TextBox 10"/>
          <p:cNvSpPr txBox="1"/>
          <p:nvPr/>
        </p:nvSpPr>
        <p:spPr>
          <a:xfrm>
            <a:off x="1508760" y="1700784"/>
            <a:ext cx="5760720" cy="658368"/>
          </a:xfrm>
          <a:prstGeom prst="rect">
            <a:avLst/>
          </a:prstGeom>
          <a:noFill/>
        </p:spPr>
        <p:txBody>
          <a:bodyPr wrap="square" lIns="0" tIns="0" rIns="0" bIns="0" anchor="t">
            <a:spAutoFit/>
          </a:bodyPr>
          <a:lstStyle/>
          <a:p>
            <a:pPr algn="l">
              <a:lnSpc>
                <a:spcPct val="102000"/>
              </a:lnSpc>
              <a:spcAft>
                <a:spcPts val="200"/>
              </a:spcAft>
            </a:pPr>
            <a:r>
              <a:rPr sz="1450" b="1" dirty="0">
                <a:solidFill>
                  <a:srgbClr val="1E293B"/>
                </a:solidFill>
                <a:latin typeface="Segoe UI Semibold"/>
              </a:rPr>
              <a:t>ALS &amp; locked-in syndrome trap an intact mind in a still body</a:t>
            </a:r>
          </a:p>
          <a:p>
            <a:pPr algn="l">
              <a:lnSpc>
                <a:spcPct val="102000"/>
              </a:lnSpc>
              <a:spcAft>
                <a:spcPts val="200"/>
              </a:spcAft>
            </a:pPr>
            <a:r>
              <a:rPr sz="1200" b="0" dirty="0">
                <a:solidFill>
                  <a:srgbClr val="647082"/>
                </a:solidFill>
                <a:latin typeface="Segoe UI"/>
              </a:rPr>
              <a:t>A brain-based channel is often the only way left to communicate.</a:t>
            </a:r>
          </a:p>
        </p:txBody>
      </p:sp>
      <p:sp>
        <p:nvSpPr>
          <p:cNvPr id="12" name="Rounded Rectangle 11"/>
          <p:cNvSpPr/>
          <p:nvPr/>
        </p:nvSpPr>
        <p:spPr>
          <a:xfrm>
            <a:off x="694944" y="2546604"/>
            <a:ext cx="6757416" cy="841248"/>
          </a:xfrm>
          <a:prstGeom prst="roundRect">
            <a:avLst>
              <a:gd name="adj" fmla="val 10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04672" y="2729484"/>
            <a:ext cx="475488" cy="475488"/>
          </a:xfrm>
          <a:prstGeom prst="ellipse">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 y="2729484"/>
            <a:ext cx="475488" cy="475488"/>
          </a:xfrm>
          <a:prstGeom prst="rect">
            <a:avLst/>
          </a:prstGeom>
          <a:noFill/>
        </p:spPr>
        <p:txBody>
          <a:bodyPr wrap="square" lIns="0" tIns="0" rIns="0" bIns="0" anchor="ctr">
            <a:spAutoFit/>
          </a:bodyPr>
          <a:lstStyle/>
          <a:p>
            <a:pPr algn="ctr"/>
            <a:r>
              <a:rPr sz="1600" b="1">
                <a:solidFill>
                  <a:srgbClr val="FFFFFF"/>
                </a:solidFill>
                <a:latin typeface="Segoe UI Semibold"/>
              </a:rPr>
              <a:t>2</a:t>
            </a:r>
          </a:p>
        </p:txBody>
      </p:sp>
      <p:sp>
        <p:nvSpPr>
          <p:cNvPr id="16" name="TextBox 15"/>
          <p:cNvSpPr txBox="1"/>
          <p:nvPr/>
        </p:nvSpPr>
        <p:spPr>
          <a:xfrm>
            <a:off x="1508760" y="2674620"/>
            <a:ext cx="5760720" cy="429413"/>
          </a:xfrm>
          <a:prstGeom prst="rect">
            <a:avLst/>
          </a:prstGeom>
          <a:noFill/>
        </p:spPr>
        <p:txBody>
          <a:bodyPr wrap="square" lIns="0" tIns="0" rIns="0" bIns="0" anchor="t">
            <a:spAutoFit/>
          </a:bodyPr>
          <a:lstStyle/>
          <a:p>
            <a:pPr algn="l">
              <a:lnSpc>
                <a:spcPct val="102000"/>
              </a:lnSpc>
              <a:spcAft>
                <a:spcPts val="200"/>
              </a:spcAft>
            </a:pPr>
            <a:r>
              <a:rPr sz="1450" b="1" dirty="0">
                <a:solidFill>
                  <a:srgbClr val="1E293B"/>
                </a:solidFill>
                <a:latin typeface="Segoe UI Semibold"/>
              </a:rPr>
              <a:t>Most EEG-BCIs rely on motor imagery</a:t>
            </a:r>
            <a:endParaRPr lang="en-US" sz="1450" b="1" dirty="0">
              <a:solidFill>
                <a:srgbClr val="1E293B"/>
              </a:solidFill>
              <a:latin typeface="Segoe UI Semibold"/>
            </a:endParaRPr>
          </a:p>
          <a:p>
            <a:pPr algn="l">
              <a:lnSpc>
                <a:spcPct val="102000"/>
              </a:lnSpc>
              <a:spcAft>
                <a:spcPts val="200"/>
              </a:spcAft>
            </a:pPr>
            <a:r>
              <a:rPr lang="en-US" sz="1200" b="0" dirty="0">
                <a:solidFill>
                  <a:srgbClr val="647082"/>
                </a:solidFill>
                <a:latin typeface="Segoe UI"/>
              </a:rPr>
              <a:t>But that routes through the motor system, exactly what ALS destroys.</a:t>
            </a:r>
          </a:p>
        </p:txBody>
      </p:sp>
      <p:sp>
        <p:nvSpPr>
          <p:cNvPr id="17" name="Rounded Rectangle 16"/>
          <p:cNvSpPr/>
          <p:nvPr/>
        </p:nvSpPr>
        <p:spPr>
          <a:xfrm>
            <a:off x="694944" y="3520440"/>
            <a:ext cx="6757416" cy="841248"/>
          </a:xfrm>
          <a:prstGeom prst="roundRect">
            <a:avLst>
              <a:gd name="adj" fmla="val 10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04672" y="3703320"/>
            <a:ext cx="475488" cy="475488"/>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2" y="3703320"/>
            <a:ext cx="475488" cy="475488"/>
          </a:xfrm>
          <a:prstGeom prst="rect">
            <a:avLst/>
          </a:prstGeom>
          <a:noFill/>
        </p:spPr>
        <p:txBody>
          <a:bodyPr wrap="square" lIns="0" tIns="0" rIns="0" bIns="0" anchor="ctr">
            <a:spAutoFit/>
          </a:bodyPr>
          <a:lstStyle/>
          <a:p>
            <a:pPr algn="ctr"/>
            <a:r>
              <a:rPr sz="1600" b="1">
                <a:solidFill>
                  <a:srgbClr val="FFFFFF"/>
                </a:solidFill>
                <a:latin typeface="Segoe UI Semibold"/>
              </a:rPr>
              <a:t>3</a:t>
            </a:r>
          </a:p>
        </p:txBody>
      </p:sp>
      <p:sp>
        <p:nvSpPr>
          <p:cNvPr id="21" name="TextBox 20"/>
          <p:cNvSpPr txBox="1"/>
          <p:nvPr/>
        </p:nvSpPr>
        <p:spPr>
          <a:xfrm>
            <a:off x="1508760" y="3648456"/>
            <a:ext cx="5760720" cy="658368"/>
          </a:xfrm>
          <a:prstGeom prst="rect">
            <a:avLst/>
          </a:prstGeom>
          <a:noFill/>
        </p:spPr>
        <p:txBody>
          <a:bodyPr wrap="square" lIns="0" tIns="0" rIns="0" bIns="0" anchor="t">
            <a:spAutoFit/>
          </a:bodyPr>
          <a:lstStyle/>
          <a:p>
            <a:pPr algn="l">
              <a:lnSpc>
                <a:spcPct val="102000"/>
              </a:lnSpc>
              <a:spcAft>
                <a:spcPts val="200"/>
              </a:spcAft>
            </a:pPr>
            <a:r>
              <a:rPr sz="1450" b="1">
                <a:solidFill>
                  <a:srgbClr val="1E293B"/>
                </a:solidFill>
                <a:latin typeface="Segoe UI Semibold"/>
              </a:rPr>
              <a:t>Visual imagery (VI), picturing an object, is a motor-free path</a:t>
            </a:r>
          </a:p>
          <a:p>
            <a:pPr algn="l">
              <a:lnSpc>
                <a:spcPct val="102000"/>
              </a:lnSpc>
              <a:spcAft>
                <a:spcPts val="200"/>
              </a:spcAft>
            </a:pPr>
            <a:r>
              <a:rPr sz="1200" b="0">
                <a:solidFill>
                  <a:srgbClr val="647082"/>
                </a:solidFill>
                <a:latin typeface="Segoe UI"/>
              </a:rPr>
              <a:t>Intuitive and promising, but the neural signals are weak and noisy.</a:t>
            </a:r>
          </a:p>
        </p:txBody>
      </p:sp>
      <p:sp>
        <p:nvSpPr>
          <p:cNvPr id="22" name="Rounded Rectangle 21"/>
          <p:cNvSpPr/>
          <p:nvPr/>
        </p:nvSpPr>
        <p:spPr>
          <a:xfrm>
            <a:off x="694944" y="4494276"/>
            <a:ext cx="6757416" cy="786384"/>
          </a:xfrm>
          <a:prstGeom prst="roundRect">
            <a:avLst>
              <a:gd name="adj" fmla="val 10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04672" y="4677156"/>
            <a:ext cx="475488" cy="475488"/>
          </a:xfrm>
          <a:prstGeom prst="ellipse">
            <a:avLst/>
          </a:prstGeom>
          <a:solidFill>
            <a:srgbClr val="22B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 y="4677156"/>
            <a:ext cx="475488" cy="475488"/>
          </a:xfrm>
          <a:prstGeom prst="rect">
            <a:avLst/>
          </a:prstGeom>
          <a:noFill/>
        </p:spPr>
        <p:txBody>
          <a:bodyPr wrap="square" lIns="0" tIns="0" rIns="0" bIns="0" anchor="ctr">
            <a:spAutoFit/>
          </a:bodyPr>
          <a:lstStyle/>
          <a:p>
            <a:pPr algn="ctr"/>
            <a:r>
              <a:rPr sz="1600" b="1">
                <a:solidFill>
                  <a:srgbClr val="FFFFFF"/>
                </a:solidFill>
                <a:latin typeface="Segoe UI Semibold"/>
              </a:rPr>
              <a:t>4</a:t>
            </a:r>
          </a:p>
        </p:txBody>
      </p:sp>
      <p:sp>
        <p:nvSpPr>
          <p:cNvPr id="26" name="TextBox 25"/>
          <p:cNvSpPr txBox="1"/>
          <p:nvPr/>
        </p:nvSpPr>
        <p:spPr>
          <a:xfrm>
            <a:off x="1508760" y="4622292"/>
            <a:ext cx="5760720" cy="658368"/>
          </a:xfrm>
          <a:prstGeom prst="rect">
            <a:avLst/>
          </a:prstGeom>
          <a:noFill/>
        </p:spPr>
        <p:txBody>
          <a:bodyPr wrap="square" lIns="0" tIns="0" rIns="0" bIns="0" anchor="t">
            <a:spAutoFit/>
          </a:bodyPr>
          <a:lstStyle/>
          <a:p>
            <a:pPr algn="l">
              <a:lnSpc>
                <a:spcPct val="102000"/>
              </a:lnSpc>
              <a:spcAft>
                <a:spcPts val="200"/>
              </a:spcAft>
            </a:pPr>
            <a:r>
              <a:rPr sz="1450" b="1">
                <a:solidFill>
                  <a:srgbClr val="1E293B"/>
                </a:solidFill>
                <a:latin typeface="Segoe UI Semibold"/>
              </a:rPr>
              <a:t>A new VI dataset exists (Gao et al., 2026), yet decoding is still weak</a:t>
            </a:r>
          </a:p>
          <a:p>
            <a:pPr algn="l">
              <a:lnSpc>
                <a:spcPct val="102000"/>
              </a:lnSpc>
              <a:spcAft>
                <a:spcPts val="200"/>
              </a:spcAft>
            </a:pPr>
            <a:r>
              <a:rPr sz="1200" b="0">
                <a:solidFill>
                  <a:srgbClr val="647082"/>
                </a:solidFill>
                <a:latin typeface="Segoe UI"/>
              </a:rPr>
              <a:t>The best baseline (EEGNet) reaches only about 75%, and just 62% on objects.</a:t>
            </a:r>
          </a:p>
        </p:txBody>
      </p:sp>
      <p:sp>
        <p:nvSpPr>
          <p:cNvPr id="27" name="Rounded Rectangle 26"/>
          <p:cNvSpPr/>
          <p:nvPr/>
        </p:nvSpPr>
        <p:spPr>
          <a:xfrm>
            <a:off x="7818120" y="1572768"/>
            <a:ext cx="3822191" cy="3657600"/>
          </a:xfrm>
          <a:prstGeom prst="roundRect">
            <a:avLst>
              <a:gd name="adj" fmla="val 5500"/>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29" name="TextBox 28"/>
          <p:cNvSpPr txBox="1"/>
          <p:nvPr/>
        </p:nvSpPr>
        <p:spPr>
          <a:xfrm>
            <a:off x="8138160" y="1847088"/>
            <a:ext cx="3182111" cy="365760"/>
          </a:xfrm>
          <a:prstGeom prst="rect">
            <a:avLst/>
          </a:prstGeom>
          <a:noFill/>
        </p:spPr>
        <p:txBody>
          <a:bodyPr wrap="square" lIns="0" tIns="0" rIns="0" bIns="0" anchor="t">
            <a:spAutoFit/>
          </a:bodyPr>
          <a:lstStyle/>
          <a:p>
            <a:pPr algn="l"/>
            <a:r>
              <a:rPr sz="1200" b="1" spc="229" dirty="0">
                <a:solidFill>
                  <a:srgbClr val="EC4899"/>
                </a:solidFill>
                <a:latin typeface="Segoe UI"/>
              </a:rPr>
              <a:t>THE REAL GAP</a:t>
            </a:r>
          </a:p>
        </p:txBody>
      </p:sp>
      <p:sp>
        <p:nvSpPr>
          <p:cNvPr id="30" name="TextBox 29"/>
          <p:cNvSpPr txBox="1"/>
          <p:nvPr/>
        </p:nvSpPr>
        <p:spPr>
          <a:xfrm>
            <a:off x="8138160" y="2231136"/>
            <a:ext cx="3182111" cy="729495"/>
          </a:xfrm>
          <a:prstGeom prst="rect">
            <a:avLst/>
          </a:prstGeom>
          <a:noFill/>
        </p:spPr>
        <p:txBody>
          <a:bodyPr wrap="square" lIns="0" tIns="0" rIns="0" bIns="0" anchor="t">
            <a:spAutoFit/>
          </a:bodyPr>
          <a:lstStyle/>
          <a:p>
            <a:pPr algn="l">
              <a:lnSpc>
                <a:spcPct val="112000"/>
              </a:lnSpc>
            </a:pPr>
            <a:r>
              <a:rPr sz="1450" b="0" dirty="0">
                <a:latin typeface="Segoe UI"/>
              </a:rPr>
              <a:t>Decoding isn’t yet accurate or reliable enough to be someone’s </a:t>
            </a:r>
          </a:p>
          <a:p>
            <a:pPr algn="l">
              <a:lnSpc>
                <a:spcPct val="112000"/>
              </a:lnSpc>
            </a:pPr>
            <a:r>
              <a:rPr sz="1450" b="1" dirty="0">
                <a:latin typeface="Segoe UI Semibold"/>
              </a:rPr>
              <a:t>only voice.</a:t>
            </a:r>
          </a:p>
        </p:txBody>
      </p:sp>
      <p:sp>
        <p:nvSpPr>
          <p:cNvPr id="31" name="Rectangle 30"/>
          <p:cNvSpPr/>
          <p:nvPr/>
        </p:nvSpPr>
        <p:spPr>
          <a:xfrm>
            <a:off x="8138160" y="3355848"/>
            <a:ext cx="3182111" cy="12801"/>
          </a:xfrm>
          <a:prstGeom prst="rect">
            <a:avLst/>
          </a:prstGeom>
          <a:solidFill>
            <a:srgbClr val="394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38160" y="3511296"/>
            <a:ext cx="3182111" cy="1004442"/>
          </a:xfrm>
          <a:prstGeom prst="rect">
            <a:avLst/>
          </a:prstGeom>
          <a:noFill/>
        </p:spPr>
        <p:txBody>
          <a:bodyPr wrap="square" lIns="0" tIns="0" rIns="0" bIns="0" anchor="t">
            <a:spAutoFit/>
          </a:bodyPr>
          <a:lstStyle/>
          <a:p>
            <a:pPr algn="l">
              <a:lnSpc>
                <a:spcPct val="114000"/>
              </a:lnSpc>
              <a:spcAft>
                <a:spcPts val="600"/>
              </a:spcAft>
            </a:pPr>
            <a:r>
              <a:rPr sz="1350" b="0" dirty="0">
                <a:latin typeface="Segoe UI"/>
              </a:rPr>
              <a:t>Objects sit at just </a:t>
            </a:r>
            <a:r>
              <a:rPr sz="1350" b="1" dirty="0">
                <a:latin typeface="Segoe UI Semibold"/>
              </a:rPr>
              <a:t>62%</a:t>
            </a:r>
            <a:r>
              <a:rPr sz="1350" b="0" dirty="0">
                <a:latin typeface="Segoe UI"/>
              </a:rPr>
              <a:t>, and tested only on the </a:t>
            </a:r>
            <a:r>
              <a:rPr sz="1350" b="1" dirty="0">
                <a:latin typeface="Segoe UI Semibold"/>
              </a:rPr>
              <a:t>same person.</a:t>
            </a:r>
          </a:p>
          <a:p>
            <a:pPr algn="l">
              <a:lnSpc>
                <a:spcPct val="114000"/>
              </a:lnSpc>
              <a:spcAft>
                <a:spcPts val="600"/>
              </a:spcAft>
            </a:pPr>
            <a:r>
              <a:rPr sz="1350" b="0" dirty="0">
                <a:latin typeface="Segoe UI"/>
              </a:rPr>
              <a:t>The bottleneck is the decoder itself, so that’s what we set out to improve.</a:t>
            </a:r>
          </a:p>
        </p:txBody>
      </p:sp>
      <p:sp>
        <p:nvSpPr>
          <p:cNvPr id="34" name="TextBox 33"/>
          <p:cNvSpPr txBox="1"/>
          <p:nvPr/>
        </p:nvSpPr>
        <p:spPr>
          <a:xfrm>
            <a:off x="10454335" y="6428232"/>
            <a:ext cx="1188720" cy="320040"/>
          </a:xfrm>
          <a:prstGeom prst="rect">
            <a:avLst/>
          </a:prstGeom>
          <a:noFill/>
        </p:spPr>
        <p:txBody>
          <a:bodyPr wrap="square" lIns="0" tIns="0" rIns="0" bIns="0" anchor="ctr">
            <a:spAutoFit/>
          </a:bodyPr>
          <a:lstStyle/>
          <a:p>
            <a:pPr algn="r"/>
            <a:r>
              <a:rPr sz="900" b="0">
                <a:solidFill>
                  <a:srgbClr val="939EB0"/>
                </a:solidFill>
                <a:latin typeface="Segoe UI"/>
              </a:rPr>
              <a:t>PROBLEM  </a:t>
            </a:r>
            <a:r>
              <a:rPr sz="900" b="1">
                <a:solidFill>
                  <a:srgbClr val="647082"/>
                </a:solidFill>
                <a:latin typeface="Segoe UI"/>
              </a:rPr>
              <a:t>02</a:t>
            </a:r>
          </a:p>
        </p:txBody>
      </p:sp>
      <p:pic>
        <p:nvPicPr>
          <p:cNvPr id="33" name="Picture 32" descr="Staging Seizure: The Chronic Contingency of Epilepsy Diagnosis –  Somatosphere">
            <a:extLst>
              <a:ext uri="{FF2B5EF4-FFF2-40B4-BE49-F238E27FC236}">
                <a16:creationId xmlns:a16="http://schemas.microsoft.com/office/drawing/2014/main" id="{6587C7D8-7083-2B1C-3932-EED1DAE99863}"/>
              </a:ext>
            </a:extLst>
          </p:cNvPr>
          <p:cNvPicPr>
            <a:picLocks noChangeAspect="1"/>
          </p:cNvPicPr>
          <p:nvPr/>
        </p:nvPicPr>
        <p:blipFill>
          <a:blip r:embed="rId3"/>
          <a:srcRect/>
          <a:stretch/>
        </p:blipFill>
        <p:spPr>
          <a:xfrm>
            <a:off x="7633603" y="5326097"/>
            <a:ext cx="2820732" cy="16197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548640" y="530352"/>
            <a:ext cx="146304" cy="475488"/>
          </a:xfrm>
          <a:prstGeom prst="roundRect">
            <a:avLst>
              <a:gd name="adj" fmla="val 50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10058400" cy="274320"/>
          </a:xfrm>
          <a:prstGeom prst="rect">
            <a:avLst/>
          </a:prstGeom>
          <a:noFill/>
        </p:spPr>
        <p:txBody>
          <a:bodyPr wrap="square" lIns="0" tIns="0" rIns="0" bIns="0" anchor="t">
            <a:spAutoFit/>
          </a:bodyPr>
          <a:lstStyle/>
          <a:p>
            <a:pPr algn="l"/>
            <a:r>
              <a:rPr sz="1100" b="1" spc="220">
                <a:solidFill>
                  <a:srgbClr val="0EA5E9"/>
                </a:solidFill>
                <a:latin typeface="Segoe UI"/>
              </a:rPr>
              <a:t>DATA</a:t>
            </a:r>
          </a:p>
        </p:txBody>
      </p:sp>
      <p:sp>
        <p:nvSpPr>
          <p:cNvPr id="5" name="TextBox 4"/>
          <p:cNvSpPr txBox="1"/>
          <p:nvPr/>
        </p:nvSpPr>
        <p:spPr>
          <a:xfrm>
            <a:off x="822960" y="676656"/>
            <a:ext cx="10789920" cy="548640"/>
          </a:xfrm>
          <a:prstGeom prst="rect">
            <a:avLst/>
          </a:prstGeom>
          <a:noFill/>
        </p:spPr>
        <p:txBody>
          <a:bodyPr wrap="square" lIns="0" tIns="0" rIns="0" bIns="0" anchor="t">
            <a:spAutoFit/>
          </a:bodyPr>
          <a:lstStyle/>
          <a:p>
            <a:pPr algn="l"/>
            <a:r>
              <a:rPr sz="3000" b="1">
                <a:solidFill>
                  <a:srgbClr val="0E1A2B"/>
                </a:solidFill>
                <a:latin typeface="Segoe UI Semibold"/>
              </a:rPr>
              <a:t>The Dataset We Will Use</a:t>
            </a:r>
          </a:p>
        </p:txBody>
      </p:sp>
      <p:sp>
        <p:nvSpPr>
          <p:cNvPr id="6" name="Rectangle 5"/>
          <p:cNvSpPr/>
          <p:nvPr/>
        </p:nvSpPr>
        <p:spPr>
          <a:xfrm>
            <a:off x="548640" y="1298448"/>
            <a:ext cx="11094415" cy="16459"/>
          </a:xfrm>
          <a:prstGeom prst="rect">
            <a:avLst/>
          </a:prstGeom>
          <a:solidFill>
            <a:srgbClr val="DDE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920240"/>
            <a:ext cx="10515600" cy="232884"/>
          </a:xfrm>
          <a:prstGeom prst="rect">
            <a:avLst/>
          </a:prstGeom>
          <a:noFill/>
        </p:spPr>
        <p:txBody>
          <a:bodyPr wrap="square" lIns="0" tIns="0" rIns="0" bIns="0" anchor="t">
            <a:spAutoFit/>
          </a:bodyPr>
          <a:lstStyle/>
          <a:p>
            <a:pPr algn="l">
              <a:lnSpc>
                <a:spcPct val="105000"/>
              </a:lnSpc>
            </a:pPr>
            <a:r>
              <a:rPr lang="en-US" sz="1550" b="1" dirty="0">
                <a:solidFill>
                  <a:srgbClr val="1E293B"/>
                </a:solidFill>
                <a:latin typeface="Segoe UI Semibold"/>
              </a:rPr>
              <a:t>1. </a:t>
            </a:r>
            <a:r>
              <a:rPr sz="1550" b="1" dirty="0">
                <a:solidFill>
                  <a:srgbClr val="1E293B"/>
                </a:solidFill>
                <a:latin typeface="Segoe UI Semibold"/>
              </a:rPr>
              <a:t>Source:  </a:t>
            </a:r>
            <a:r>
              <a:rPr sz="1550" b="0" dirty="0">
                <a:solidFill>
                  <a:srgbClr val="3A4557"/>
                </a:solidFill>
                <a:latin typeface="Segoe UI"/>
              </a:rPr>
              <a:t>Gao et al. (2026), Scientific Data  ·  open  ·  VI-focused, not motor imagery  ·  new, no prior work</a:t>
            </a:r>
          </a:p>
        </p:txBody>
      </p:sp>
      <p:sp>
        <p:nvSpPr>
          <p:cNvPr id="10" name="TextBox 9"/>
          <p:cNvSpPr txBox="1"/>
          <p:nvPr/>
        </p:nvSpPr>
        <p:spPr>
          <a:xfrm>
            <a:off x="1097280" y="2272721"/>
            <a:ext cx="10515600" cy="232884"/>
          </a:xfrm>
          <a:prstGeom prst="rect">
            <a:avLst/>
          </a:prstGeom>
          <a:noFill/>
        </p:spPr>
        <p:txBody>
          <a:bodyPr wrap="square" lIns="0" tIns="0" rIns="0" bIns="0" anchor="t">
            <a:spAutoFit/>
          </a:bodyPr>
          <a:lstStyle/>
          <a:p>
            <a:pPr algn="l">
              <a:lnSpc>
                <a:spcPct val="105000"/>
              </a:lnSpc>
            </a:pPr>
            <a:r>
              <a:rPr lang="en-US" sz="1550" b="1" dirty="0">
                <a:solidFill>
                  <a:srgbClr val="1E293B"/>
                </a:solidFill>
                <a:latin typeface="Segoe UI Semibold"/>
              </a:rPr>
              <a:t>2. </a:t>
            </a:r>
            <a:r>
              <a:rPr sz="1550" b="1" dirty="0">
                <a:solidFill>
                  <a:srgbClr val="1E293B"/>
                </a:solidFill>
                <a:latin typeface="Segoe UI Semibold"/>
              </a:rPr>
              <a:t>Participants:  </a:t>
            </a:r>
            <a:r>
              <a:rPr sz="1550" b="0" dirty="0">
                <a:solidFill>
                  <a:srgbClr val="3A4557"/>
                </a:solidFill>
                <a:latin typeface="Segoe UI"/>
              </a:rPr>
              <a:t>22 healthy  ·  aged 20 to 23  ·  5 female  ·  2 sessions on different days</a:t>
            </a:r>
          </a:p>
        </p:txBody>
      </p:sp>
      <p:sp>
        <p:nvSpPr>
          <p:cNvPr id="12" name="TextBox 11"/>
          <p:cNvSpPr txBox="1"/>
          <p:nvPr/>
        </p:nvSpPr>
        <p:spPr>
          <a:xfrm>
            <a:off x="1097280" y="2666678"/>
            <a:ext cx="10515600" cy="232884"/>
          </a:xfrm>
          <a:prstGeom prst="rect">
            <a:avLst/>
          </a:prstGeom>
          <a:noFill/>
        </p:spPr>
        <p:txBody>
          <a:bodyPr wrap="square" lIns="0" tIns="0" rIns="0" bIns="0" anchor="t">
            <a:spAutoFit/>
          </a:bodyPr>
          <a:lstStyle/>
          <a:p>
            <a:pPr algn="l">
              <a:lnSpc>
                <a:spcPct val="105000"/>
              </a:lnSpc>
            </a:pPr>
            <a:r>
              <a:rPr lang="en-US" sz="1550" b="1" dirty="0">
                <a:solidFill>
                  <a:srgbClr val="1E293B"/>
                </a:solidFill>
                <a:latin typeface="Segoe UI Semibold"/>
              </a:rPr>
              <a:t>3. </a:t>
            </a:r>
            <a:r>
              <a:rPr sz="1550" b="1" dirty="0">
                <a:solidFill>
                  <a:srgbClr val="1E293B"/>
                </a:solidFill>
                <a:latin typeface="Segoe UI Semibold"/>
              </a:rPr>
              <a:t>Recording:  </a:t>
            </a:r>
            <a:r>
              <a:rPr sz="1550" b="0" dirty="0">
                <a:solidFill>
                  <a:srgbClr val="3A4557"/>
                </a:solidFill>
                <a:latin typeface="Segoe UI"/>
              </a:rPr>
              <a:t>32 channels  ·  1000 Hz  ·  10-20 layout  ·  shielded room</a:t>
            </a:r>
          </a:p>
        </p:txBody>
      </p:sp>
      <p:sp>
        <p:nvSpPr>
          <p:cNvPr id="14" name="TextBox 13"/>
          <p:cNvSpPr txBox="1"/>
          <p:nvPr/>
        </p:nvSpPr>
        <p:spPr>
          <a:xfrm>
            <a:off x="1093470" y="3010340"/>
            <a:ext cx="10515600" cy="232884"/>
          </a:xfrm>
          <a:prstGeom prst="rect">
            <a:avLst/>
          </a:prstGeom>
          <a:noFill/>
        </p:spPr>
        <p:txBody>
          <a:bodyPr wrap="square" lIns="0" tIns="0" rIns="0" bIns="0" anchor="t">
            <a:spAutoFit/>
          </a:bodyPr>
          <a:lstStyle/>
          <a:p>
            <a:pPr algn="l">
              <a:lnSpc>
                <a:spcPct val="105000"/>
              </a:lnSpc>
            </a:pPr>
            <a:r>
              <a:rPr lang="en-US" sz="1550" b="1" dirty="0">
                <a:solidFill>
                  <a:srgbClr val="1E293B"/>
                </a:solidFill>
                <a:latin typeface="Segoe UI Semibold"/>
              </a:rPr>
              <a:t>4. </a:t>
            </a:r>
            <a:r>
              <a:rPr sz="1550" b="1" dirty="0">
                <a:solidFill>
                  <a:srgbClr val="1E293B"/>
                </a:solidFill>
                <a:latin typeface="Segoe UI Semibold"/>
              </a:rPr>
              <a:t>Stimuli:  </a:t>
            </a:r>
            <a:r>
              <a:rPr lang="en-US" sz="1550" b="0" dirty="0">
                <a:solidFill>
                  <a:srgbClr val="3A4557"/>
                </a:solidFill>
                <a:latin typeface="Segoe UI"/>
              </a:rPr>
              <a:t>10 images  ·</a:t>
            </a:r>
            <a:r>
              <a:rPr sz="1550" b="0" dirty="0">
                <a:solidFill>
                  <a:srgbClr val="3A4557"/>
                </a:solidFill>
                <a:latin typeface="Segoe UI"/>
              </a:rPr>
              <a:t>  3 categories</a:t>
            </a:r>
            <a:r>
              <a:rPr lang="en-US" sz="1550" b="0" dirty="0">
                <a:solidFill>
                  <a:srgbClr val="3A4557"/>
                </a:solidFill>
                <a:latin typeface="Segoe UI"/>
              </a:rPr>
              <a:t>: </a:t>
            </a:r>
            <a:r>
              <a:rPr sz="1550" b="0" dirty="0">
                <a:solidFill>
                  <a:srgbClr val="3A4557"/>
                </a:solidFill>
                <a:latin typeface="Segoe UI"/>
              </a:rPr>
              <a:t>figures, animals, objects</a:t>
            </a:r>
          </a:p>
        </p:txBody>
      </p:sp>
      <p:sp>
        <p:nvSpPr>
          <p:cNvPr id="16" name="TextBox 15"/>
          <p:cNvSpPr txBox="1"/>
          <p:nvPr/>
        </p:nvSpPr>
        <p:spPr>
          <a:xfrm>
            <a:off x="1093470" y="3375719"/>
            <a:ext cx="10515600" cy="232884"/>
          </a:xfrm>
          <a:prstGeom prst="rect">
            <a:avLst/>
          </a:prstGeom>
          <a:noFill/>
        </p:spPr>
        <p:txBody>
          <a:bodyPr wrap="square" lIns="0" tIns="0" rIns="0" bIns="0" anchor="t">
            <a:spAutoFit/>
          </a:bodyPr>
          <a:lstStyle/>
          <a:p>
            <a:pPr algn="l">
              <a:lnSpc>
                <a:spcPct val="105000"/>
              </a:lnSpc>
            </a:pPr>
            <a:r>
              <a:rPr lang="en-US" sz="1550" b="1" dirty="0">
                <a:solidFill>
                  <a:srgbClr val="1E293B"/>
                </a:solidFill>
                <a:latin typeface="Segoe UI Semibold"/>
              </a:rPr>
              <a:t>5. </a:t>
            </a:r>
            <a:r>
              <a:rPr sz="1550" b="1" dirty="0">
                <a:solidFill>
                  <a:srgbClr val="1E293B"/>
                </a:solidFill>
                <a:latin typeface="Segoe UI Semibold"/>
              </a:rPr>
              <a:t>Trial (17 s):  </a:t>
            </a:r>
            <a:r>
              <a:rPr sz="1550" b="0" dirty="0">
                <a:solidFill>
                  <a:srgbClr val="3A4557"/>
                </a:solidFill>
                <a:latin typeface="Segoe UI"/>
              </a:rPr>
              <a:t>fixation 3 s → image 4 s → mask 2 s → imagery 4 s → rest   ·   decode the 4 s imagery</a:t>
            </a:r>
          </a:p>
        </p:txBody>
      </p:sp>
      <p:sp>
        <p:nvSpPr>
          <p:cNvPr id="18" name="TextBox 17"/>
          <p:cNvSpPr txBox="1"/>
          <p:nvPr/>
        </p:nvSpPr>
        <p:spPr>
          <a:xfrm>
            <a:off x="1093470" y="3732115"/>
            <a:ext cx="10515600" cy="232884"/>
          </a:xfrm>
          <a:prstGeom prst="rect">
            <a:avLst/>
          </a:prstGeom>
          <a:noFill/>
        </p:spPr>
        <p:txBody>
          <a:bodyPr wrap="square" lIns="0" tIns="0" rIns="0" bIns="0" anchor="t">
            <a:spAutoFit/>
          </a:bodyPr>
          <a:lstStyle/>
          <a:p>
            <a:pPr algn="l">
              <a:lnSpc>
                <a:spcPct val="105000"/>
              </a:lnSpc>
            </a:pPr>
            <a:r>
              <a:rPr lang="en-US" sz="1550" b="1" dirty="0">
                <a:solidFill>
                  <a:srgbClr val="1E293B"/>
                </a:solidFill>
                <a:latin typeface="Segoe UI Semibold"/>
              </a:rPr>
              <a:t>6. </a:t>
            </a:r>
            <a:r>
              <a:rPr sz="1550" b="1" dirty="0">
                <a:solidFill>
                  <a:srgbClr val="1E293B"/>
                </a:solidFill>
                <a:latin typeface="Segoe UI Semibold"/>
              </a:rPr>
              <a:t>Task:  </a:t>
            </a:r>
            <a:r>
              <a:rPr sz="1550" b="0" dirty="0">
                <a:solidFill>
                  <a:srgbClr val="3A4557"/>
                </a:solidFill>
                <a:latin typeface="Segoe UI"/>
              </a:rPr>
              <a:t>3-class within a category (dog vs fish vs bird)  ·  chance 33%  ·  120 / 120 / 160 trials</a:t>
            </a:r>
          </a:p>
        </p:txBody>
      </p:sp>
      <p:sp>
        <p:nvSpPr>
          <p:cNvPr id="20" name="TextBox 19"/>
          <p:cNvSpPr txBox="1"/>
          <p:nvPr/>
        </p:nvSpPr>
        <p:spPr>
          <a:xfrm>
            <a:off x="1093470" y="4135695"/>
            <a:ext cx="10515600" cy="232884"/>
          </a:xfrm>
          <a:prstGeom prst="rect">
            <a:avLst/>
          </a:prstGeom>
          <a:noFill/>
        </p:spPr>
        <p:txBody>
          <a:bodyPr wrap="square" lIns="0" tIns="0" rIns="0" bIns="0" anchor="t">
            <a:spAutoFit/>
          </a:bodyPr>
          <a:lstStyle/>
          <a:p>
            <a:pPr algn="l">
              <a:lnSpc>
                <a:spcPct val="105000"/>
              </a:lnSpc>
            </a:pPr>
            <a:r>
              <a:rPr lang="en-US" sz="1550" b="1" dirty="0">
                <a:solidFill>
                  <a:srgbClr val="1E293B"/>
                </a:solidFill>
                <a:latin typeface="Segoe UI Semibold"/>
              </a:rPr>
              <a:t>7. Quality:  </a:t>
            </a:r>
            <a:r>
              <a:rPr sz="1550" b="0" dirty="0">
                <a:solidFill>
                  <a:srgbClr val="3A4557"/>
                </a:solidFill>
                <a:latin typeface="Segoe UI"/>
              </a:rPr>
              <a:t>open BIDS format  ·  raw + preprocessed  ·  baseline code (MNE, </a:t>
            </a:r>
            <a:r>
              <a:rPr sz="1550" b="0" dirty="0" err="1">
                <a:solidFill>
                  <a:srgbClr val="3A4557"/>
                </a:solidFill>
                <a:latin typeface="Segoe UI"/>
              </a:rPr>
              <a:t>PyTorch</a:t>
            </a:r>
            <a:r>
              <a:rPr sz="1550" b="0" dirty="0">
                <a:solidFill>
                  <a:srgbClr val="3A4557"/>
                </a:solidFill>
                <a:latin typeface="Segoe UI"/>
              </a:rPr>
              <a:t>)</a:t>
            </a:r>
          </a:p>
        </p:txBody>
      </p:sp>
      <p:sp>
        <p:nvSpPr>
          <p:cNvPr id="22" name="TextBox 21"/>
          <p:cNvSpPr txBox="1"/>
          <p:nvPr/>
        </p:nvSpPr>
        <p:spPr>
          <a:xfrm>
            <a:off x="10454335" y="6519002"/>
            <a:ext cx="1188720" cy="138499"/>
          </a:xfrm>
          <a:prstGeom prst="rect">
            <a:avLst/>
          </a:prstGeom>
          <a:noFill/>
        </p:spPr>
        <p:txBody>
          <a:bodyPr wrap="square" lIns="0" tIns="0" rIns="0" bIns="0" anchor="ctr">
            <a:spAutoFit/>
          </a:bodyPr>
          <a:lstStyle/>
          <a:p>
            <a:pPr algn="r"/>
            <a:r>
              <a:rPr sz="900" b="0" dirty="0">
                <a:solidFill>
                  <a:srgbClr val="939EB0"/>
                </a:solidFill>
                <a:latin typeface="Segoe UI"/>
              </a:rPr>
              <a:t>DATASET  </a:t>
            </a:r>
            <a:r>
              <a:rPr sz="900" b="1" dirty="0">
                <a:solidFill>
                  <a:srgbClr val="647082"/>
                </a:solidFill>
                <a:latin typeface="Segoe UI"/>
              </a:rPr>
              <a:t>0</a:t>
            </a:r>
            <a:r>
              <a:rPr lang="en-US" sz="900" b="1" dirty="0">
                <a:solidFill>
                  <a:srgbClr val="647082"/>
                </a:solidFill>
                <a:latin typeface="Segoe UI"/>
              </a:rPr>
              <a:t>3</a:t>
            </a:r>
            <a:endParaRPr sz="900" b="1" dirty="0">
              <a:solidFill>
                <a:srgbClr val="647082"/>
              </a:solidFill>
              <a:latin typeface="Segoe UI"/>
            </a:endParaRPr>
          </a:p>
        </p:txBody>
      </p:sp>
      <p:sp>
        <p:nvSpPr>
          <p:cNvPr id="25" name="TextBox 24">
            <a:extLst>
              <a:ext uri="{FF2B5EF4-FFF2-40B4-BE49-F238E27FC236}">
                <a16:creationId xmlns:a16="http://schemas.microsoft.com/office/drawing/2014/main" id="{1B90B597-1ECC-1304-A672-ED0373DD8FDC}"/>
              </a:ext>
            </a:extLst>
          </p:cNvPr>
          <p:cNvSpPr txBox="1"/>
          <p:nvPr/>
        </p:nvSpPr>
        <p:spPr>
          <a:xfrm>
            <a:off x="1097280" y="5159117"/>
            <a:ext cx="5435727" cy="572849"/>
          </a:xfrm>
          <a:prstGeom prst="rect">
            <a:avLst/>
          </a:prstGeom>
          <a:noFill/>
        </p:spPr>
        <p:txBody>
          <a:bodyPr wrap="square">
            <a:spAutoFit/>
          </a:bodyPr>
          <a:lstStyle/>
          <a:p>
            <a:pPr marL="0" marR="0">
              <a:lnSpc>
                <a:spcPct val="115000"/>
              </a:lnSpc>
              <a:spcAft>
                <a:spcPts val="800"/>
              </a:spcAft>
              <a:buNone/>
            </a:pPr>
            <a:r>
              <a:rPr lang="en-US" sz="1100" dirty="0">
                <a:effectLst/>
                <a:latin typeface="Calibri" panose="020F0502020204030204" pitchFamily="34" charset="0"/>
                <a:ea typeface="Calibri" panose="020F0502020204030204" pitchFamily="34" charset="0"/>
              </a:rPr>
              <a:t>Dataset: </a:t>
            </a:r>
            <a:r>
              <a:rPr lang="en-US" sz="1100" dirty="0">
                <a:solidFill>
                  <a:srgbClr val="0563C1"/>
                </a:solidFill>
                <a:effectLst/>
                <a:latin typeface="Calibri" panose="020F0502020204030204" pitchFamily="34" charset="0"/>
                <a:ea typeface="Calibri" panose="020F0502020204030204" pitchFamily="34" charset="0"/>
                <a:hlinkClick r:id="rId3"/>
              </a:rPr>
              <a:t>https://figshare.com/articles/dataset/EEG_Dataset_for_Visual_Imagery/30227503</a:t>
            </a:r>
            <a:endParaRPr lang="en-US" sz="1100" dirty="0">
              <a:effectLst/>
              <a:latin typeface="Calibri" panose="020F0502020204030204" pitchFamily="34" charset="0"/>
              <a:ea typeface="Calibri" panose="020F0502020204030204" pitchFamily="34" charset="0"/>
            </a:endParaRPr>
          </a:p>
          <a:p>
            <a:pPr marL="0" marR="0">
              <a:lnSpc>
                <a:spcPct val="115000"/>
              </a:lnSpc>
              <a:spcAft>
                <a:spcPts val="800"/>
              </a:spcAft>
              <a:buNone/>
            </a:pPr>
            <a:r>
              <a:rPr lang="en-US" sz="1100" dirty="0">
                <a:effectLst/>
                <a:latin typeface="Calibri" panose="020F0502020204030204" pitchFamily="34" charset="0"/>
                <a:ea typeface="Calibri" panose="020F0502020204030204" pitchFamily="34" charset="0"/>
              </a:rPr>
              <a:t>Dataset’s own paper here: </a:t>
            </a:r>
            <a:r>
              <a:rPr lang="en-US" sz="1100" dirty="0">
                <a:solidFill>
                  <a:srgbClr val="0563C1"/>
                </a:solidFill>
                <a:effectLst/>
                <a:latin typeface="Calibri" panose="020F0502020204030204" pitchFamily="34" charset="0"/>
                <a:ea typeface="Calibri" panose="020F0502020204030204" pitchFamily="34" charset="0"/>
                <a:hlinkClick r:id="rId4"/>
              </a:rPr>
              <a:t>https://www.nature.com/articles/s41597-025-06512-5</a:t>
            </a:r>
            <a:endParaRPr lang="en-US" sz="1100" dirty="0">
              <a:effectLst/>
              <a:latin typeface="Calibri" panose="020F0502020204030204" pitchFamily="34" charset="0"/>
              <a:ea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548640" y="530352"/>
            <a:ext cx="146304" cy="475488"/>
          </a:xfrm>
          <a:prstGeom prst="roundRect">
            <a:avLst>
              <a:gd name="adj" fmla="val 50000"/>
            </a:avLst>
          </a:prstGeom>
          <a:solidFill>
            <a:srgbClr val="22B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10058400" cy="274320"/>
          </a:xfrm>
          <a:prstGeom prst="rect">
            <a:avLst/>
          </a:prstGeom>
          <a:noFill/>
        </p:spPr>
        <p:txBody>
          <a:bodyPr wrap="square" lIns="0" tIns="0" rIns="0" bIns="0" anchor="t">
            <a:spAutoFit/>
          </a:bodyPr>
          <a:lstStyle/>
          <a:p>
            <a:pPr algn="l"/>
            <a:r>
              <a:rPr sz="1100" b="1" spc="220">
                <a:solidFill>
                  <a:srgbClr val="22B8CF"/>
                </a:solidFill>
                <a:latin typeface="Segoe UI"/>
              </a:rPr>
              <a:t>AIMS</a:t>
            </a:r>
          </a:p>
        </p:txBody>
      </p:sp>
      <p:sp>
        <p:nvSpPr>
          <p:cNvPr id="5" name="TextBox 4"/>
          <p:cNvSpPr txBox="1"/>
          <p:nvPr/>
        </p:nvSpPr>
        <p:spPr>
          <a:xfrm>
            <a:off x="822960" y="676656"/>
            <a:ext cx="10789920" cy="548640"/>
          </a:xfrm>
          <a:prstGeom prst="rect">
            <a:avLst/>
          </a:prstGeom>
          <a:noFill/>
        </p:spPr>
        <p:txBody>
          <a:bodyPr wrap="square" lIns="0" tIns="0" rIns="0" bIns="0" anchor="t">
            <a:spAutoFit/>
          </a:bodyPr>
          <a:lstStyle/>
          <a:p>
            <a:pPr algn="l"/>
            <a:r>
              <a:rPr sz="3000" b="1">
                <a:solidFill>
                  <a:srgbClr val="0E1A2B"/>
                </a:solidFill>
                <a:latin typeface="Segoe UI Semibold"/>
              </a:rPr>
              <a:t>Research Objectives</a:t>
            </a:r>
          </a:p>
        </p:txBody>
      </p:sp>
      <p:sp>
        <p:nvSpPr>
          <p:cNvPr id="6" name="Rectangle 5"/>
          <p:cNvSpPr/>
          <p:nvPr/>
        </p:nvSpPr>
        <p:spPr>
          <a:xfrm>
            <a:off x="548640" y="1298448"/>
            <a:ext cx="11094415" cy="16459"/>
          </a:xfrm>
          <a:prstGeom prst="rect">
            <a:avLst/>
          </a:prstGeom>
          <a:solidFill>
            <a:srgbClr val="DDE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00200"/>
            <a:ext cx="3529584" cy="2148840"/>
          </a:xfrm>
          <a:prstGeom prst="roundRect">
            <a:avLst>
              <a:gd name="adj" fmla="val 7000"/>
            </a:avLst>
          </a:prstGeom>
          <a:gradFill>
            <a:gsLst>
              <a:gs pos="0">
                <a:srgbClr val="6C5CE7"/>
              </a:gs>
              <a:gs pos="100000">
                <a:srgbClr val="544BD8"/>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7" y="1856232"/>
            <a:ext cx="2980944" cy="457200"/>
          </a:xfrm>
          <a:prstGeom prst="rect">
            <a:avLst/>
          </a:prstGeom>
          <a:noFill/>
        </p:spPr>
        <p:txBody>
          <a:bodyPr wrap="square" lIns="0" tIns="0" rIns="0" bIns="0" anchor="t">
            <a:spAutoFit/>
          </a:bodyPr>
          <a:lstStyle/>
          <a:p>
            <a:pPr algn="l"/>
            <a:r>
              <a:rPr sz="2600" b="1">
                <a:solidFill>
                  <a:srgbClr val="C8C2F7"/>
                </a:solidFill>
                <a:latin typeface="Segoe UI Semibold"/>
              </a:rPr>
              <a:t>01</a:t>
            </a:r>
          </a:p>
        </p:txBody>
      </p:sp>
      <p:sp>
        <p:nvSpPr>
          <p:cNvPr id="9" name="TextBox 8"/>
          <p:cNvSpPr txBox="1"/>
          <p:nvPr/>
        </p:nvSpPr>
        <p:spPr>
          <a:xfrm>
            <a:off x="2660904" y="1911095"/>
            <a:ext cx="1143000" cy="292608"/>
          </a:xfrm>
          <a:prstGeom prst="rect">
            <a:avLst/>
          </a:prstGeom>
          <a:noFill/>
        </p:spPr>
        <p:txBody>
          <a:bodyPr wrap="square" lIns="0" tIns="0" rIns="0" bIns="0" anchor="t">
            <a:spAutoFit/>
          </a:bodyPr>
          <a:lstStyle/>
          <a:p>
            <a:pPr algn="r"/>
            <a:r>
              <a:rPr sz="950" b="1" spc="200">
                <a:solidFill>
                  <a:srgbClr val="FFFFFF"/>
                </a:solidFill>
                <a:latin typeface="Segoe UI"/>
              </a:rPr>
              <a:t>PRIMARY</a:t>
            </a:r>
          </a:p>
        </p:txBody>
      </p:sp>
      <p:sp>
        <p:nvSpPr>
          <p:cNvPr id="10" name="TextBox 9"/>
          <p:cNvSpPr txBox="1"/>
          <p:nvPr/>
        </p:nvSpPr>
        <p:spPr>
          <a:xfrm>
            <a:off x="841247" y="2423160"/>
            <a:ext cx="2980944" cy="548640"/>
          </a:xfrm>
          <a:prstGeom prst="rect">
            <a:avLst/>
          </a:prstGeom>
          <a:noFill/>
        </p:spPr>
        <p:txBody>
          <a:bodyPr wrap="square" lIns="0" tIns="0" rIns="0" bIns="0" anchor="t">
            <a:spAutoFit/>
          </a:bodyPr>
          <a:lstStyle/>
          <a:p>
            <a:pPr algn="l">
              <a:lnSpc>
                <a:spcPct val="100000"/>
              </a:lnSpc>
            </a:pPr>
            <a:r>
              <a:rPr sz="1650" b="1" dirty="0">
                <a:solidFill>
                  <a:srgbClr val="FFFFFF"/>
                </a:solidFill>
                <a:latin typeface="Segoe UI Semibold"/>
              </a:rPr>
              <a:t>Stronger decoder</a:t>
            </a:r>
          </a:p>
        </p:txBody>
      </p:sp>
      <p:sp>
        <p:nvSpPr>
          <p:cNvPr id="11" name="TextBox 10"/>
          <p:cNvSpPr txBox="1"/>
          <p:nvPr/>
        </p:nvSpPr>
        <p:spPr>
          <a:xfrm>
            <a:off x="841247" y="2916936"/>
            <a:ext cx="2962656" cy="777240"/>
          </a:xfrm>
          <a:prstGeom prst="rect">
            <a:avLst/>
          </a:prstGeom>
          <a:noFill/>
        </p:spPr>
        <p:txBody>
          <a:bodyPr wrap="square" lIns="0" tIns="0" rIns="0" bIns="0" anchor="t">
            <a:spAutoFit/>
          </a:bodyPr>
          <a:lstStyle/>
          <a:p>
            <a:pPr algn="l">
              <a:lnSpc>
                <a:spcPct val="108000"/>
              </a:lnSpc>
            </a:pPr>
            <a:r>
              <a:rPr sz="1200" b="0">
                <a:solidFill>
                  <a:srgbClr val="E7E4FB"/>
                </a:solidFill>
                <a:latin typeface="Segoe UI"/>
              </a:rPr>
              <a:t>Design a combined CNN-Transformer that beats the EEGNet baseline.</a:t>
            </a:r>
          </a:p>
        </p:txBody>
      </p:sp>
      <p:sp>
        <p:nvSpPr>
          <p:cNvPr id="12" name="Rounded Rectangle 11"/>
          <p:cNvSpPr/>
          <p:nvPr/>
        </p:nvSpPr>
        <p:spPr>
          <a:xfrm>
            <a:off x="4197096" y="1600200"/>
            <a:ext cx="3529584" cy="2148840"/>
          </a:xfrm>
          <a:prstGeom prst="roundRect">
            <a:avLst>
              <a:gd name="adj" fmla="val 7000"/>
            </a:avLst>
          </a:prstGeom>
          <a:solidFill>
            <a:srgbClr val="F4F6FB"/>
          </a:solidFill>
          <a:ln w="12700">
            <a:solidFill>
              <a:srgbClr val="DD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9704" y="1856232"/>
            <a:ext cx="2980944" cy="457200"/>
          </a:xfrm>
          <a:prstGeom prst="rect">
            <a:avLst/>
          </a:prstGeom>
          <a:noFill/>
        </p:spPr>
        <p:txBody>
          <a:bodyPr wrap="square" lIns="0" tIns="0" rIns="0" bIns="0" anchor="t">
            <a:spAutoFit/>
          </a:bodyPr>
          <a:lstStyle/>
          <a:p>
            <a:pPr algn="l"/>
            <a:r>
              <a:rPr sz="2600" b="1">
                <a:solidFill>
                  <a:srgbClr val="0EA5E9"/>
                </a:solidFill>
                <a:latin typeface="Segoe UI Semibold"/>
              </a:rPr>
              <a:t>02</a:t>
            </a:r>
          </a:p>
        </p:txBody>
      </p:sp>
      <p:sp>
        <p:nvSpPr>
          <p:cNvPr id="15" name="TextBox 14"/>
          <p:cNvSpPr txBox="1"/>
          <p:nvPr/>
        </p:nvSpPr>
        <p:spPr>
          <a:xfrm>
            <a:off x="4489704" y="2423160"/>
            <a:ext cx="2980944" cy="548640"/>
          </a:xfrm>
          <a:prstGeom prst="rect">
            <a:avLst/>
          </a:prstGeom>
          <a:noFill/>
        </p:spPr>
        <p:txBody>
          <a:bodyPr wrap="square" lIns="0" tIns="0" rIns="0" bIns="0" anchor="t">
            <a:spAutoFit/>
          </a:bodyPr>
          <a:lstStyle/>
          <a:p>
            <a:pPr algn="l">
              <a:lnSpc>
                <a:spcPct val="100000"/>
              </a:lnSpc>
            </a:pPr>
            <a:r>
              <a:rPr sz="1650" b="1" dirty="0">
                <a:solidFill>
                  <a:srgbClr val="1E293B"/>
                </a:solidFill>
                <a:latin typeface="Segoe UI Semibold"/>
              </a:rPr>
              <a:t>Fix the weakest task</a:t>
            </a:r>
          </a:p>
        </p:txBody>
      </p:sp>
      <p:sp>
        <p:nvSpPr>
          <p:cNvPr id="16" name="TextBox 15"/>
          <p:cNvSpPr txBox="1"/>
          <p:nvPr/>
        </p:nvSpPr>
        <p:spPr>
          <a:xfrm>
            <a:off x="4489704" y="2916936"/>
            <a:ext cx="2962656" cy="777240"/>
          </a:xfrm>
          <a:prstGeom prst="rect">
            <a:avLst/>
          </a:prstGeom>
          <a:noFill/>
        </p:spPr>
        <p:txBody>
          <a:bodyPr wrap="square" lIns="0" tIns="0" rIns="0" bIns="0" anchor="t">
            <a:spAutoFit/>
          </a:bodyPr>
          <a:lstStyle/>
          <a:p>
            <a:pPr algn="l">
              <a:lnSpc>
                <a:spcPct val="108000"/>
              </a:lnSpc>
            </a:pPr>
            <a:r>
              <a:rPr sz="1200" b="0" dirty="0">
                <a:solidFill>
                  <a:srgbClr val="647082"/>
                </a:solidFill>
                <a:latin typeface="Segoe UI"/>
              </a:rPr>
              <a:t>Lift object-category accuracy (62%) toward figures &amp; animals (~75%).</a:t>
            </a:r>
          </a:p>
        </p:txBody>
      </p:sp>
      <p:sp>
        <p:nvSpPr>
          <p:cNvPr id="17" name="Rounded Rectangle 16"/>
          <p:cNvSpPr/>
          <p:nvPr/>
        </p:nvSpPr>
        <p:spPr>
          <a:xfrm>
            <a:off x="7845552" y="1600200"/>
            <a:ext cx="3529584" cy="2148840"/>
          </a:xfrm>
          <a:prstGeom prst="roundRect">
            <a:avLst>
              <a:gd name="adj" fmla="val 7000"/>
            </a:avLst>
          </a:prstGeom>
          <a:solidFill>
            <a:srgbClr val="F4F6FB"/>
          </a:solidFill>
          <a:ln w="12700">
            <a:solidFill>
              <a:srgbClr val="DD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1856232"/>
            <a:ext cx="2980944" cy="457200"/>
          </a:xfrm>
          <a:prstGeom prst="rect">
            <a:avLst/>
          </a:prstGeom>
          <a:noFill/>
        </p:spPr>
        <p:txBody>
          <a:bodyPr wrap="square" lIns="0" tIns="0" rIns="0" bIns="0" anchor="t">
            <a:spAutoFit/>
          </a:bodyPr>
          <a:lstStyle/>
          <a:p>
            <a:pPr algn="l"/>
            <a:r>
              <a:rPr sz="2600" b="1">
                <a:solidFill>
                  <a:srgbClr val="14B8A6"/>
                </a:solidFill>
                <a:latin typeface="Segoe UI Semibold"/>
              </a:rPr>
              <a:t>03</a:t>
            </a:r>
          </a:p>
        </p:txBody>
      </p:sp>
      <p:sp>
        <p:nvSpPr>
          <p:cNvPr id="20" name="TextBox 19"/>
          <p:cNvSpPr txBox="1"/>
          <p:nvPr/>
        </p:nvSpPr>
        <p:spPr>
          <a:xfrm>
            <a:off x="8138160" y="2423160"/>
            <a:ext cx="2980944" cy="548640"/>
          </a:xfrm>
          <a:prstGeom prst="rect">
            <a:avLst/>
          </a:prstGeom>
          <a:noFill/>
        </p:spPr>
        <p:txBody>
          <a:bodyPr wrap="square" lIns="0" tIns="0" rIns="0" bIns="0" anchor="t">
            <a:spAutoFit/>
          </a:bodyPr>
          <a:lstStyle/>
          <a:p>
            <a:pPr algn="l">
              <a:lnSpc>
                <a:spcPct val="100000"/>
              </a:lnSpc>
            </a:pPr>
            <a:r>
              <a:rPr sz="1650" b="1" dirty="0">
                <a:solidFill>
                  <a:srgbClr val="1E293B"/>
                </a:solidFill>
                <a:latin typeface="Segoe UI Semibold"/>
              </a:rPr>
              <a:t>Lightweight &amp; practical</a:t>
            </a:r>
          </a:p>
        </p:txBody>
      </p:sp>
      <p:sp>
        <p:nvSpPr>
          <p:cNvPr id="21" name="TextBox 20"/>
          <p:cNvSpPr txBox="1"/>
          <p:nvPr/>
        </p:nvSpPr>
        <p:spPr>
          <a:xfrm>
            <a:off x="8138160" y="2916936"/>
            <a:ext cx="2962656" cy="777240"/>
          </a:xfrm>
          <a:prstGeom prst="rect">
            <a:avLst/>
          </a:prstGeom>
          <a:noFill/>
        </p:spPr>
        <p:txBody>
          <a:bodyPr wrap="square" lIns="0" tIns="0" rIns="0" bIns="0" anchor="t">
            <a:spAutoFit/>
          </a:bodyPr>
          <a:lstStyle/>
          <a:p>
            <a:pPr algn="l">
              <a:lnSpc>
                <a:spcPct val="108000"/>
              </a:lnSpc>
            </a:pPr>
            <a:r>
              <a:rPr sz="1200" b="0" dirty="0">
                <a:solidFill>
                  <a:srgbClr val="647082"/>
                </a:solidFill>
                <a:latin typeface="Segoe UI"/>
              </a:rPr>
              <a:t>Few parameters, single-GPU, deployable for real assistive use.</a:t>
            </a:r>
          </a:p>
        </p:txBody>
      </p:sp>
      <p:sp>
        <p:nvSpPr>
          <p:cNvPr id="22" name="Rounded Rectangle 21"/>
          <p:cNvSpPr/>
          <p:nvPr/>
        </p:nvSpPr>
        <p:spPr>
          <a:xfrm>
            <a:off x="548640" y="3931920"/>
            <a:ext cx="3529584" cy="2148840"/>
          </a:xfrm>
          <a:prstGeom prst="roundRect">
            <a:avLst>
              <a:gd name="adj" fmla="val 7000"/>
            </a:avLst>
          </a:prstGeom>
          <a:solidFill>
            <a:srgbClr val="F4F6FB"/>
          </a:solidFill>
          <a:ln w="12700">
            <a:solidFill>
              <a:srgbClr val="DD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7" y="4187952"/>
            <a:ext cx="2980944" cy="457200"/>
          </a:xfrm>
          <a:prstGeom prst="rect">
            <a:avLst/>
          </a:prstGeom>
          <a:noFill/>
        </p:spPr>
        <p:txBody>
          <a:bodyPr wrap="square" lIns="0" tIns="0" rIns="0" bIns="0" anchor="t">
            <a:spAutoFit/>
          </a:bodyPr>
          <a:lstStyle/>
          <a:p>
            <a:pPr algn="l"/>
            <a:r>
              <a:rPr sz="2600" b="1">
                <a:solidFill>
                  <a:srgbClr val="F59E0B"/>
                </a:solidFill>
                <a:latin typeface="Segoe UI Semibold"/>
              </a:rPr>
              <a:t>04</a:t>
            </a:r>
          </a:p>
        </p:txBody>
      </p:sp>
      <p:sp>
        <p:nvSpPr>
          <p:cNvPr id="25" name="TextBox 24"/>
          <p:cNvSpPr txBox="1"/>
          <p:nvPr/>
        </p:nvSpPr>
        <p:spPr>
          <a:xfrm>
            <a:off x="841247" y="4754880"/>
            <a:ext cx="2980944" cy="548640"/>
          </a:xfrm>
          <a:prstGeom prst="rect">
            <a:avLst/>
          </a:prstGeom>
          <a:noFill/>
        </p:spPr>
        <p:txBody>
          <a:bodyPr wrap="square" lIns="0" tIns="0" rIns="0" bIns="0" anchor="t">
            <a:spAutoFit/>
          </a:bodyPr>
          <a:lstStyle/>
          <a:p>
            <a:pPr algn="l">
              <a:lnSpc>
                <a:spcPct val="100000"/>
              </a:lnSpc>
            </a:pPr>
            <a:r>
              <a:rPr sz="1650" b="1">
                <a:solidFill>
                  <a:srgbClr val="1E293B"/>
                </a:solidFill>
                <a:latin typeface="Segoe UI Semibold"/>
              </a:rPr>
              <a:t>Stable over time</a:t>
            </a:r>
          </a:p>
        </p:txBody>
      </p:sp>
      <p:sp>
        <p:nvSpPr>
          <p:cNvPr id="26" name="TextBox 25"/>
          <p:cNvSpPr txBox="1"/>
          <p:nvPr/>
        </p:nvSpPr>
        <p:spPr>
          <a:xfrm>
            <a:off x="841247" y="5248656"/>
            <a:ext cx="2962656" cy="777240"/>
          </a:xfrm>
          <a:prstGeom prst="rect">
            <a:avLst/>
          </a:prstGeom>
          <a:noFill/>
        </p:spPr>
        <p:txBody>
          <a:bodyPr wrap="square" lIns="0" tIns="0" rIns="0" bIns="0" anchor="t">
            <a:spAutoFit/>
          </a:bodyPr>
          <a:lstStyle/>
          <a:p>
            <a:pPr algn="l">
              <a:lnSpc>
                <a:spcPct val="108000"/>
              </a:lnSpc>
            </a:pPr>
            <a:r>
              <a:rPr sz="1200" b="0">
                <a:solidFill>
                  <a:srgbClr val="647082"/>
                </a:solidFill>
                <a:latin typeface="Segoe UI"/>
              </a:rPr>
              <a:t>Stay consistent day to day (session 1 → session 2).</a:t>
            </a:r>
          </a:p>
        </p:txBody>
      </p:sp>
      <p:sp>
        <p:nvSpPr>
          <p:cNvPr id="27" name="Rounded Rectangle 26"/>
          <p:cNvSpPr/>
          <p:nvPr/>
        </p:nvSpPr>
        <p:spPr>
          <a:xfrm>
            <a:off x="4197096" y="3931920"/>
            <a:ext cx="3529584" cy="2148840"/>
          </a:xfrm>
          <a:prstGeom prst="roundRect">
            <a:avLst>
              <a:gd name="adj" fmla="val 7000"/>
            </a:avLst>
          </a:prstGeom>
          <a:solidFill>
            <a:srgbClr val="F4F6FB"/>
          </a:solidFill>
          <a:ln w="12700">
            <a:solidFill>
              <a:srgbClr val="DD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p:cNvSpPr txBox="1"/>
          <p:nvPr/>
        </p:nvSpPr>
        <p:spPr>
          <a:xfrm>
            <a:off x="4489704" y="4187952"/>
            <a:ext cx="2980944" cy="457200"/>
          </a:xfrm>
          <a:prstGeom prst="rect">
            <a:avLst/>
          </a:prstGeom>
          <a:noFill/>
        </p:spPr>
        <p:txBody>
          <a:bodyPr wrap="square" lIns="0" tIns="0" rIns="0" bIns="0" anchor="t">
            <a:spAutoFit/>
          </a:bodyPr>
          <a:lstStyle/>
          <a:p>
            <a:pPr algn="l"/>
            <a:r>
              <a:rPr sz="2600" b="1">
                <a:solidFill>
                  <a:srgbClr val="8B5CF6"/>
                </a:solidFill>
                <a:latin typeface="Segoe UI Semibold"/>
              </a:rPr>
              <a:t>05</a:t>
            </a:r>
          </a:p>
        </p:txBody>
      </p:sp>
      <p:sp>
        <p:nvSpPr>
          <p:cNvPr id="30" name="TextBox 29"/>
          <p:cNvSpPr txBox="1"/>
          <p:nvPr/>
        </p:nvSpPr>
        <p:spPr>
          <a:xfrm>
            <a:off x="4489704" y="4754880"/>
            <a:ext cx="2980944" cy="548640"/>
          </a:xfrm>
          <a:prstGeom prst="rect">
            <a:avLst/>
          </a:prstGeom>
          <a:noFill/>
        </p:spPr>
        <p:txBody>
          <a:bodyPr wrap="square" lIns="0" tIns="0" rIns="0" bIns="0" anchor="t">
            <a:spAutoFit/>
          </a:bodyPr>
          <a:lstStyle/>
          <a:p>
            <a:pPr algn="l">
              <a:lnSpc>
                <a:spcPct val="100000"/>
              </a:lnSpc>
            </a:pPr>
            <a:r>
              <a:rPr sz="1650" b="1" dirty="0">
                <a:solidFill>
                  <a:srgbClr val="1E293B"/>
                </a:solidFill>
                <a:latin typeface="Segoe UI Semibold"/>
              </a:rPr>
              <a:t>Generalize to new users</a:t>
            </a:r>
          </a:p>
        </p:txBody>
      </p:sp>
      <p:sp>
        <p:nvSpPr>
          <p:cNvPr id="31" name="TextBox 30"/>
          <p:cNvSpPr txBox="1"/>
          <p:nvPr/>
        </p:nvSpPr>
        <p:spPr>
          <a:xfrm>
            <a:off x="4489704" y="5248656"/>
            <a:ext cx="2962656" cy="777240"/>
          </a:xfrm>
          <a:prstGeom prst="rect">
            <a:avLst/>
          </a:prstGeom>
          <a:noFill/>
        </p:spPr>
        <p:txBody>
          <a:bodyPr wrap="square" lIns="0" tIns="0" rIns="0" bIns="0" anchor="t">
            <a:spAutoFit/>
          </a:bodyPr>
          <a:lstStyle/>
          <a:p>
            <a:pPr algn="l">
              <a:lnSpc>
                <a:spcPct val="108000"/>
              </a:lnSpc>
            </a:pPr>
            <a:r>
              <a:rPr sz="1200" b="0" dirty="0">
                <a:solidFill>
                  <a:srgbClr val="647082"/>
                </a:solidFill>
                <a:latin typeface="Segoe UI"/>
              </a:rPr>
              <a:t>Cut per-user calibration via transfer learning / alignment.</a:t>
            </a:r>
          </a:p>
        </p:txBody>
      </p:sp>
      <p:sp>
        <p:nvSpPr>
          <p:cNvPr id="32" name="Rounded Rectangle 31"/>
          <p:cNvSpPr/>
          <p:nvPr/>
        </p:nvSpPr>
        <p:spPr>
          <a:xfrm>
            <a:off x="7845552" y="3931920"/>
            <a:ext cx="3529584" cy="2148840"/>
          </a:xfrm>
          <a:prstGeom prst="roundRect">
            <a:avLst>
              <a:gd name="adj" fmla="val 7000"/>
            </a:avLst>
          </a:prstGeom>
          <a:solidFill>
            <a:srgbClr val="F4F6FB"/>
          </a:solidFill>
          <a:ln w="12700">
            <a:solidFill>
              <a:srgbClr val="DD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38160" y="4187952"/>
            <a:ext cx="2980944" cy="457200"/>
          </a:xfrm>
          <a:prstGeom prst="rect">
            <a:avLst/>
          </a:prstGeom>
          <a:noFill/>
        </p:spPr>
        <p:txBody>
          <a:bodyPr wrap="square" lIns="0" tIns="0" rIns="0" bIns="0" anchor="t">
            <a:spAutoFit/>
          </a:bodyPr>
          <a:lstStyle/>
          <a:p>
            <a:pPr algn="l"/>
            <a:r>
              <a:rPr sz="2600" b="1">
                <a:solidFill>
                  <a:srgbClr val="EC4899"/>
                </a:solidFill>
                <a:latin typeface="Segoe UI Semibold"/>
              </a:rPr>
              <a:t>06</a:t>
            </a:r>
          </a:p>
        </p:txBody>
      </p:sp>
      <p:sp>
        <p:nvSpPr>
          <p:cNvPr id="35" name="TextBox 34"/>
          <p:cNvSpPr txBox="1"/>
          <p:nvPr/>
        </p:nvSpPr>
        <p:spPr>
          <a:xfrm>
            <a:off x="8138160" y="4754880"/>
            <a:ext cx="2980944" cy="548640"/>
          </a:xfrm>
          <a:prstGeom prst="rect">
            <a:avLst/>
          </a:prstGeom>
          <a:noFill/>
        </p:spPr>
        <p:txBody>
          <a:bodyPr wrap="square" lIns="0" tIns="0" rIns="0" bIns="0" anchor="t">
            <a:spAutoFit/>
          </a:bodyPr>
          <a:lstStyle/>
          <a:p>
            <a:pPr algn="l">
              <a:lnSpc>
                <a:spcPct val="100000"/>
              </a:lnSpc>
            </a:pPr>
            <a:r>
              <a:rPr sz="1650" b="1" dirty="0">
                <a:solidFill>
                  <a:srgbClr val="1E293B"/>
                </a:solidFill>
                <a:latin typeface="Segoe UI Semibold"/>
              </a:rPr>
              <a:t>Clinical relevance</a:t>
            </a:r>
          </a:p>
        </p:txBody>
      </p:sp>
      <p:sp>
        <p:nvSpPr>
          <p:cNvPr id="36" name="TextBox 35"/>
          <p:cNvSpPr txBox="1"/>
          <p:nvPr/>
        </p:nvSpPr>
        <p:spPr>
          <a:xfrm>
            <a:off x="8138160" y="5248656"/>
            <a:ext cx="2962656" cy="777240"/>
          </a:xfrm>
          <a:prstGeom prst="rect">
            <a:avLst/>
          </a:prstGeom>
          <a:noFill/>
        </p:spPr>
        <p:txBody>
          <a:bodyPr wrap="square" lIns="0" tIns="0" rIns="0" bIns="0" anchor="t">
            <a:spAutoFit/>
          </a:bodyPr>
          <a:lstStyle/>
          <a:p>
            <a:pPr algn="l">
              <a:lnSpc>
                <a:spcPct val="108000"/>
              </a:lnSpc>
            </a:pPr>
            <a:r>
              <a:rPr sz="1200" b="0" dirty="0">
                <a:solidFill>
                  <a:srgbClr val="647082"/>
                </a:solidFill>
                <a:latin typeface="Segoe UI"/>
              </a:rPr>
              <a:t>Reliable enough to aid ALS / locked-in communication.</a:t>
            </a:r>
          </a:p>
        </p:txBody>
      </p:sp>
      <p:sp>
        <p:nvSpPr>
          <p:cNvPr id="38" name="TextBox 37"/>
          <p:cNvSpPr txBox="1"/>
          <p:nvPr/>
        </p:nvSpPr>
        <p:spPr>
          <a:xfrm>
            <a:off x="10454335" y="6428232"/>
            <a:ext cx="1188720" cy="320040"/>
          </a:xfrm>
          <a:prstGeom prst="rect">
            <a:avLst/>
          </a:prstGeom>
          <a:noFill/>
        </p:spPr>
        <p:txBody>
          <a:bodyPr wrap="square" lIns="0" tIns="0" rIns="0" bIns="0" anchor="ctr">
            <a:spAutoFit/>
          </a:bodyPr>
          <a:lstStyle/>
          <a:p>
            <a:pPr algn="r"/>
            <a:r>
              <a:rPr sz="900" b="0">
                <a:solidFill>
                  <a:srgbClr val="939EB0"/>
                </a:solidFill>
                <a:latin typeface="Segoe UI"/>
              </a:rPr>
              <a:t>OBJECTIVES  </a:t>
            </a:r>
            <a:r>
              <a:rPr sz="900" b="1">
                <a:solidFill>
                  <a:srgbClr val="647082"/>
                </a:solidFill>
                <a:latin typeface="Segoe UI"/>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548640" y="530352"/>
            <a:ext cx="146304" cy="475488"/>
          </a:xfrm>
          <a:prstGeom prst="roundRect">
            <a:avLst>
              <a:gd name="adj" fmla="val 50000"/>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10058400" cy="274320"/>
          </a:xfrm>
          <a:prstGeom prst="rect">
            <a:avLst/>
          </a:prstGeom>
          <a:noFill/>
        </p:spPr>
        <p:txBody>
          <a:bodyPr wrap="square" lIns="0" tIns="0" rIns="0" bIns="0" anchor="t">
            <a:spAutoFit/>
          </a:bodyPr>
          <a:lstStyle/>
          <a:p>
            <a:pPr algn="l"/>
            <a:r>
              <a:rPr sz="1100" b="1" spc="220">
                <a:solidFill>
                  <a:srgbClr val="14B8A6"/>
                </a:solidFill>
                <a:latin typeface="Segoe UI"/>
              </a:rPr>
              <a:t>PRIOR WORK</a:t>
            </a:r>
          </a:p>
        </p:txBody>
      </p:sp>
      <p:sp>
        <p:nvSpPr>
          <p:cNvPr id="5" name="TextBox 4"/>
          <p:cNvSpPr txBox="1"/>
          <p:nvPr/>
        </p:nvSpPr>
        <p:spPr>
          <a:xfrm>
            <a:off x="822960" y="676656"/>
            <a:ext cx="10789920" cy="548640"/>
          </a:xfrm>
          <a:prstGeom prst="rect">
            <a:avLst/>
          </a:prstGeom>
          <a:noFill/>
        </p:spPr>
        <p:txBody>
          <a:bodyPr wrap="square" lIns="0" tIns="0" rIns="0" bIns="0" anchor="t">
            <a:spAutoFit/>
          </a:bodyPr>
          <a:lstStyle/>
          <a:p>
            <a:pPr algn="l"/>
            <a:r>
              <a:rPr sz="3000" b="1">
                <a:solidFill>
                  <a:srgbClr val="0E1A2B"/>
                </a:solidFill>
                <a:latin typeface="Segoe UI Semibold"/>
              </a:rPr>
              <a:t>Literature Review</a:t>
            </a:r>
          </a:p>
        </p:txBody>
      </p:sp>
      <p:sp>
        <p:nvSpPr>
          <p:cNvPr id="6" name="Rectangle 5"/>
          <p:cNvSpPr/>
          <p:nvPr/>
        </p:nvSpPr>
        <p:spPr>
          <a:xfrm>
            <a:off x="548640" y="1298448"/>
            <a:ext cx="11094415" cy="16459"/>
          </a:xfrm>
          <a:prstGeom prst="rect">
            <a:avLst/>
          </a:prstGeom>
          <a:solidFill>
            <a:srgbClr val="DDE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39" y="1572768"/>
            <a:ext cx="3423285" cy="603504"/>
          </a:xfrm>
          <a:prstGeom prst="roundRect">
            <a:avLst>
              <a:gd name="adj" fmla="val 14000"/>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19" y="1775839"/>
            <a:ext cx="3029157" cy="197362"/>
          </a:xfrm>
          <a:prstGeom prst="rect">
            <a:avLst/>
          </a:prstGeom>
          <a:noFill/>
        </p:spPr>
        <p:txBody>
          <a:bodyPr wrap="square" lIns="0" tIns="0" rIns="0" bIns="0" anchor="ctr">
            <a:spAutoFit/>
          </a:bodyPr>
          <a:lstStyle/>
          <a:p>
            <a:pPr algn="l">
              <a:lnSpc>
                <a:spcPct val="95000"/>
              </a:lnSpc>
            </a:pPr>
            <a:r>
              <a:rPr sz="1350" b="1" dirty="0">
                <a:solidFill>
                  <a:srgbClr val="FFFFFF"/>
                </a:solidFill>
                <a:latin typeface="Segoe UI Semibold"/>
              </a:rPr>
              <a:t>Decoding backbones</a:t>
            </a:r>
          </a:p>
        </p:txBody>
      </p:sp>
      <p:sp>
        <p:nvSpPr>
          <p:cNvPr id="9" name="Rounded Rectangle 8"/>
          <p:cNvSpPr/>
          <p:nvPr/>
        </p:nvSpPr>
        <p:spPr>
          <a:xfrm>
            <a:off x="548639" y="2258568"/>
            <a:ext cx="3423285" cy="3840480"/>
          </a:xfrm>
          <a:prstGeom prst="roundRect">
            <a:avLst>
              <a:gd name="adj" fmla="val 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49808" y="2542032"/>
            <a:ext cx="100584" cy="100584"/>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19" y="2432304"/>
            <a:ext cx="2725115" cy="373436"/>
          </a:xfrm>
          <a:prstGeom prst="rect">
            <a:avLst/>
          </a:prstGeom>
          <a:noFill/>
        </p:spPr>
        <p:txBody>
          <a:bodyPr wrap="square" lIns="0" tIns="0" rIns="0" bIns="0" anchor="t">
            <a:spAutoFit/>
          </a:bodyPr>
          <a:lstStyle/>
          <a:p>
            <a:pPr algn="l">
              <a:lnSpc>
                <a:spcPct val="100000"/>
              </a:lnSpc>
              <a:spcAft>
                <a:spcPts val="200"/>
              </a:spcAft>
            </a:pPr>
            <a:r>
              <a:rPr sz="1180" b="1" dirty="0" err="1">
                <a:solidFill>
                  <a:srgbClr val="1E293B"/>
                </a:solidFill>
                <a:latin typeface="Segoe UI Semibold"/>
              </a:rPr>
              <a:t>Lawhern</a:t>
            </a:r>
            <a:r>
              <a:rPr sz="1180" b="1" dirty="0">
                <a:solidFill>
                  <a:srgbClr val="1E293B"/>
                </a:solidFill>
                <a:latin typeface="Segoe UI Semibold"/>
              </a:rPr>
              <a:t> 2018 · </a:t>
            </a:r>
            <a:r>
              <a:rPr sz="1180" b="1" dirty="0" err="1">
                <a:solidFill>
                  <a:srgbClr val="1E293B"/>
                </a:solidFill>
                <a:latin typeface="Segoe UI Semibold"/>
              </a:rPr>
              <a:t>EEGNet</a:t>
            </a:r>
            <a:endParaRPr sz="1180" b="1" dirty="0">
              <a:solidFill>
                <a:srgbClr val="1E293B"/>
              </a:solidFill>
              <a:latin typeface="Segoe UI Semibold"/>
            </a:endParaRPr>
          </a:p>
          <a:p>
            <a:pPr algn="l">
              <a:lnSpc>
                <a:spcPct val="100000"/>
              </a:lnSpc>
              <a:spcAft>
                <a:spcPts val="200"/>
              </a:spcAft>
            </a:pPr>
            <a:r>
              <a:rPr sz="1080" b="0" dirty="0">
                <a:solidFill>
                  <a:srgbClr val="647082"/>
                </a:solidFill>
                <a:latin typeface="Segoe UI"/>
              </a:rPr>
              <a:t>compact CNN, the baseline we must beat</a:t>
            </a:r>
          </a:p>
        </p:txBody>
      </p:sp>
      <p:sp>
        <p:nvSpPr>
          <p:cNvPr id="12" name="Oval 11"/>
          <p:cNvSpPr/>
          <p:nvPr/>
        </p:nvSpPr>
        <p:spPr>
          <a:xfrm>
            <a:off x="749808" y="3749040"/>
            <a:ext cx="100584" cy="100584"/>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19" y="3639312"/>
            <a:ext cx="2725115" cy="373436"/>
          </a:xfrm>
          <a:prstGeom prst="rect">
            <a:avLst/>
          </a:prstGeom>
          <a:noFill/>
        </p:spPr>
        <p:txBody>
          <a:bodyPr wrap="square" lIns="0" tIns="0" rIns="0" bIns="0" anchor="t">
            <a:spAutoFit/>
          </a:bodyPr>
          <a:lstStyle/>
          <a:p>
            <a:pPr algn="l">
              <a:lnSpc>
                <a:spcPct val="100000"/>
              </a:lnSpc>
              <a:spcAft>
                <a:spcPts val="200"/>
              </a:spcAft>
            </a:pPr>
            <a:r>
              <a:rPr sz="1180" b="1" dirty="0">
                <a:solidFill>
                  <a:srgbClr val="1E293B"/>
                </a:solidFill>
                <a:latin typeface="Segoe UI Semibold"/>
              </a:rPr>
              <a:t>Song 2022 · EEG Conformer</a:t>
            </a:r>
          </a:p>
          <a:p>
            <a:pPr algn="l">
              <a:lnSpc>
                <a:spcPct val="100000"/>
              </a:lnSpc>
              <a:spcAft>
                <a:spcPts val="200"/>
              </a:spcAft>
            </a:pPr>
            <a:r>
              <a:rPr sz="1080" b="0" dirty="0" err="1">
                <a:solidFill>
                  <a:srgbClr val="647082"/>
                </a:solidFill>
                <a:latin typeface="Segoe UI"/>
              </a:rPr>
              <a:t>CNN+Transformer</a:t>
            </a:r>
            <a:r>
              <a:rPr sz="1080" b="0" dirty="0">
                <a:solidFill>
                  <a:srgbClr val="647082"/>
                </a:solidFill>
                <a:latin typeface="Segoe UI"/>
              </a:rPr>
              <a:t>, SOTA on MI/emotion</a:t>
            </a:r>
          </a:p>
        </p:txBody>
      </p:sp>
      <p:sp>
        <p:nvSpPr>
          <p:cNvPr id="14" name="Oval 13"/>
          <p:cNvSpPr/>
          <p:nvPr/>
        </p:nvSpPr>
        <p:spPr>
          <a:xfrm>
            <a:off x="749808" y="4956048"/>
            <a:ext cx="100584" cy="100584"/>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19" y="4846320"/>
            <a:ext cx="2725115" cy="373436"/>
          </a:xfrm>
          <a:prstGeom prst="rect">
            <a:avLst/>
          </a:prstGeom>
          <a:noFill/>
        </p:spPr>
        <p:txBody>
          <a:bodyPr wrap="square" lIns="0" tIns="0" rIns="0" bIns="0" anchor="t">
            <a:spAutoFit/>
          </a:bodyPr>
          <a:lstStyle/>
          <a:p>
            <a:pPr algn="l">
              <a:lnSpc>
                <a:spcPct val="100000"/>
              </a:lnSpc>
              <a:spcAft>
                <a:spcPts val="200"/>
              </a:spcAft>
            </a:pPr>
            <a:r>
              <a:rPr sz="1180" b="1" dirty="0">
                <a:solidFill>
                  <a:srgbClr val="1E293B"/>
                </a:solidFill>
                <a:latin typeface="Segoe UI Semibold"/>
              </a:rPr>
              <a:t>Wang 2025 · </a:t>
            </a:r>
            <a:r>
              <a:rPr sz="1180" b="1" dirty="0" err="1">
                <a:solidFill>
                  <a:srgbClr val="1E293B"/>
                </a:solidFill>
                <a:latin typeface="Segoe UI Semibold"/>
              </a:rPr>
              <a:t>DBConformer</a:t>
            </a:r>
            <a:endParaRPr sz="1180" b="1" dirty="0">
              <a:solidFill>
                <a:srgbClr val="1E293B"/>
              </a:solidFill>
              <a:latin typeface="Segoe UI Semibold"/>
            </a:endParaRPr>
          </a:p>
          <a:p>
            <a:pPr algn="l">
              <a:lnSpc>
                <a:spcPct val="100000"/>
              </a:lnSpc>
              <a:spcAft>
                <a:spcPts val="200"/>
              </a:spcAft>
            </a:pPr>
            <a:r>
              <a:rPr sz="1080" b="0" dirty="0">
                <a:solidFill>
                  <a:srgbClr val="647082"/>
                </a:solidFill>
                <a:latin typeface="Segoe UI"/>
              </a:rPr>
              <a:t>dual-branch, about 8x fewer params</a:t>
            </a:r>
          </a:p>
        </p:txBody>
      </p:sp>
      <p:sp>
        <p:nvSpPr>
          <p:cNvPr id="16" name="Rounded Rectangle 15"/>
          <p:cNvSpPr/>
          <p:nvPr/>
        </p:nvSpPr>
        <p:spPr>
          <a:xfrm>
            <a:off x="4446837" y="1572768"/>
            <a:ext cx="3350898" cy="603504"/>
          </a:xfrm>
          <a:prstGeom prst="roundRect">
            <a:avLst>
              <a:gd name="adj" fmla="val 14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29717" y="1775839"/>
            <a:ext cx="2965104" cy="197362"/>
          </a:xfrm>
          <a:prstGeom prst="rect">
            <a:avLst/>
          </a:prstGeom>
          <a:noFill/>
        </p:spPr>
        <p:txBody>
          <a:bodyPr wrap="square" lIns="0" tIns="0" rIns="0" bIns="0" anchor="ctr">
            <a:spAutoFit/>
          </a:bodyPr>
          <a:lstStyle/>
          <a:p>
            <a:pPr algn="l">
              <a:lnSpc>
                <a:spcPct val="95000"/>
              </a:lnSpc>
            </a:pPr>
            <a:r>
              <a:rPr sz="1350" b="1">
                <a:solidFill>
                  <a:srgbClr val="FFFFFF"/>
                </a:solidFill>
                <a:latin typeface="Segoe UI Semibold"/>
              </a:rPr>
              <a:t>Visual-imagery decoding</a:t>
            </a:r>
          </a:p>
        </p:txBody>
      </p:sp>
      <p:sp>
        <p:nvSpPr>
          <p:cNvPr id="18" name="Rounded Rectangle 17"/>
          <p:cNvSpPr/>
          <p:nvPr/>
        </p:nvSpPr>
        <p:spPr>
          <a:xfrm>
            <a:off x="4446837" y="2258568"/>
            <a:ext cx="3350898" cy="3840480"/>
          </a:xfrm>
          <a:prstGeom prst="roundRect">
            <a:avLst>
              <a:gd name="adj" fmla="val 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648005" y="2542032"/>
            <a:ext cx="100584" cy="10058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58316" y="2432304"/>
            <a:ext cx="2667491" cy="373436"/>
          </a:xfrm>
          <a:prstGeom prst="rect">
            <a:avLst/>
          </a:prstGeom>
          <a:noFill/>
        </p:spPr>
        <p:txBody>
          <a:bodyPr wrap="square" lIns="0" tIns="0" rIns="0" bIns="0" anchor="t">
            <a:spAutoFit/>
          </a:bodyPr>
          <a:lstStyle/>
          <a:p>
            <a:pPr algn="l">
              <a:lnSpc>
                <a:spcPct val="100000"/>
              </a:lnSpc>
              <a:spcAft>
                <a:spcPts val="200"/>
              </a:spcAft>
            </a:pPr>
            <a:r>
              <a:rPr sz="1180" b="1" dirty="0">
                <a:solidFill>
                  <a:srgbClr val="1E293B"/>
                </a:solidFill>
                <a:latin typeface="Segoe UI Semibold"/>
              </a:rPr>
              <a:t>Gao 2026 · our VI dataset</a:t>
            </a:r>
          </a:p>
          <a:p>
            <a:pPr algn="l">
              <a:lnSpc>
                <a:spcPct val="100000"/>
              </a:lnSpc>
              <a:spcAft>
                <a:spcPts val="200"/>
              </a:spcAft>
            </a:pPr>
            <a:r>
              <a:rPr sz="1080" b="0" dirty="0" err="1">
                <a:solidFill>
                  <a:srgbClr val="647082"/>
                </a:solidFill>
                <a:latin typeface="Segoe UI"/>
              </a:rPr>
              <a:t>EEGNet</a:t>
            </a:r>
            <a:r>
              <a:rPr sz="1080" b="0" dirty="0">
                <a:solidFill>
                  <a:srgbClr val="647082"/>
                </a:solidFill>
                <a:latin typeface="Segoe UI"/>
              </a:rPr>
              <a:t> 75% / 62% objects, within-subj.</a:t>
            </a:r>
          </a:p>
        </p:txBody>
      </p:sp>
      <p:sp>
        <p:nvSpPr>
          <p:cNvPr id="21" name="Oval 20"/>
          <p:cNvSpPr/>
          <p:nvPr/>
        </p:nvSpPr>
        <p:spPr>
          <a:xfrm>
            <a:off x="4648005" y="3749040"/>
            <a:ext cx="100584" cy="10058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58316" y="3639312"/>
            <a:ext cx="2667491" cy="373436"/>
          </a:xfrm>
          <a:prstGeom prst="rect">
            <a:avLst/>
          </a:prstGeom>
          <a:noFill/>
        </p:spPr>
        <p:txBody>
          <a:bodyPr wrap="square" lIns="0" tIns="0" rIns="0" bIns="0" anchor="t">
            <a:spAutoFit/>
          </a:bodyPr>
          <a:lstStyle/>
          <a:p>
            <a:pPr algn="l">
              <a:lnSpc>
                <a:spcPct val="100000"/>
              </a:lnSpc>
              <a:spcAft>
                <a:spcPts val="200"/>
              </a:spcAft>
            </a:pPr>
            <a:r>
              <a:rPr sz="1180" b="1">
                <a:solidFill>
                  <a:srgbClr val="1E293B"/>
                </a:solidFill>
                <a:latin typeface="Segoe UI Semibold"/>
              </a:rPr>
              <a:t>Wilson 2023 · semantic VI set</a:t>
            </a:r>
          </a:p>
          <a:p>
            <a:pPr algn="l">
              <a:lnSpc>
                <a:spcPct val="100000"/>
              </a:lnSpc>
              <a:spcAft>
                <a:spcPts val="200"/>
              </a:spcAft>
            </a:pPr>
            <a:r>
              <a:rPr sz="1080" b="0">
                <a:solidFill>
                  <a:srgbClr val="647082"/>
                </a:solidFill>
                <a:latin typeface="Segoe UI"/>
              </a:rPr>
              <a:t>open comparison dataset</a:t>
            </a:r>
          </a:p>
        </p:txBody>
      </p:sp>
      <p:sp>
        <p:nvSpPr>
          <p:cNvPr id="23" name="Oval 22"/>
          <p:cNvSpPr/>
          <p:nvPr/>
        </p:nvSpPr>
        <p:spPr>
          <a:xfrm>
            <a:off x="4648005" y="4956048"/>
            <a:ext cx="100584" cy="100584"/>
          </a:xfrm>
          <a:prstGeom prst="ellipse">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58316" y="4846320"/>
            <a:ext cx="2667491" cy="373436"/>
          </a:xfrm>
          <a:prstGeom prst="rect">
            <a:avLst/>
          </a:prstGeom>
          <a:noFill/>
        </p:spPr>
        <p:txBody>
          <a:bodyPr wrap="square" lIns="0" tIns="0" rIns="0" bIns="0" anchor="t">
            <a:spAutoFit/>
          </a:bodyPr>
          <a:lstStyle/>
          <a:p>
            <a:pPr algn="l">
              <a:lnSpc>
                <a:spcPct val="100000"/>
              </a:lnSpc>
              <a:spcAft>
                <a:spcPts val="200"/>
              </a:spcAft>
            </a:pPr>
            <a:r>
              <a:rPr sz="1180" b="1" dirty="0" err="1">
                <a:solidFill>
                  <a:srgbClr val="1E293B"/>
                </a:solidFill>
                <a:latin typeface="Segoe UI Semibold"/>
              </a:rPr>
              <a:t>Kilmarx</a:t>
            </a:r>
            <a:r>
              <a:rPr sz="1180" b="1" dirty="0">
                <a:solidFill>
                  <a:srgbClr val="1E293B"/>
                </a:solidFill>
                <a:latin typeface="Segoe UI Semibold"/>
              </a:rPr>
              <a:t> 2024 · VI feasibility</a:t>
            </a:r>
          </a:p>
          <a:p>
            <a:pPr algn="l">
              <a:lnSpc>
                <a:spcPct val="100000"/>
              </a:lnSpc>
              <a:spcAft>
                <a:spcPts val="200"/>
              </a:spcAft>
            </a:pPr>
            <a:r>
              <a:rPr sz="1080" b="0" dirty="0">
                <a:solidFill>
                  <a:srgbClr val="647082"/>
                </a:solidFill>
                <a:latin typeface="Segoe UI"/>
              </a:rPr>
              <a:t>works, but high variance / modest acc.</a:t>
            </a:r>
          </a:p>
        </p:txBody>
      </p:sp>
      <p:sp>
        <p:nvSpPr>
          <p:cNvPr id="34" name="Rounded Rectangle 33"/>
          <p:cNvSpPr/>
          <p:nvPr/>
        </p:nvSpPr>
        <p:spPr>
          <a:xfrm>
            <a:off x="8272648" y="1588296"/>
            <a:ext cx="3423284" cy="603504"/>
          </a:xfrm>
          <a:prstGeom prst="roundRect">
            <a:avLst>
              <a:gd name="adj" fmla="val 14000"/>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55528" y="1791367"/>
            <a:ext cx="3029156" cy="197362"/>
          </a:xfrm>
          <a:prstGeom prst="rect">
            <a:avLst/>
          </a:prstGeom>
          <a:noFill/>
        </p:spPr>
        <p:txBody>
          <a:bodyPr wrap="square" lIns="0" tIns="0" rIns="0" bIns="0" anchor="ctr">
            <a:spAutoFit/>
          </a:bodyPr>
          <a:lstStyle/>
          <a:p>
            <a:pPr algn="l">
              <a:lnSpc>
                <a:spcPct val="95000"/>
              </a:lnSpc>
            </a:pPr>
            <a:r>
              <a:rPr sz="1350" b="1">
                <a:solidFill>
                  <a:srgbClr val="FFFFFF"/>
                </a:solidFill>
                <a:latin typeface="Segoe UI Semibold"/>
              </a:rPr>
              <a:t>Clinical BCIs for ALS</a:t>
            </a:r>
          </a:p>
        </p:txBody>
      </p:sp>
      <p:sp>
        <p:nvSpPr>
          <p:cNvPr id="36" name="Rounded Rectangle 35"/>
          <p:cNvSpPr/>
          <p:nvPr/>
        </p:nvSpPr>
        <p:spPr>
          <a:xfrm>
            <a:off x="8272648" y="2274096"/>
            <a:ext cx="3423284" cy="3840480"/>
          </a:xfrm>
          <a:prstGeom prst="roundRect">
            <a:avLst>
              <a:gd name="adj" fmla="val 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473816" y="2557560"/>
            <a:ext cx="100584" cy="100584"/>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684128" y="2447832"/>
            <a:ext cx="2725114" cy="373436"/>
          </a:xfrm>
          <a:prstGeom prst="rect">
            <a:avLst/>
          </a:prstGeom>
          <a:noFill/>
        </p:spPr>
        <p:txBody>
          <a:bodyPr wrap="square" lIns="0" tIns="0" rIns="0" bIns="0" anchor="t">
            <a:spAutoFit/>
          </a:bodyPr>
          <a:lstStyle/>
          <a:p>
            <a:pPr algn="l">
              <a:lnSpc>
                <a:spcPct val="100000"/>
              </a:lnSpc>
              <a:spcAft>
                <a:spcPts val="200"/>
              </a:spcAft>
            </a:pPr>
            <a:r>
              <a:rPr sz="1180" b="1" dirty="0">
                <a:solidFill>
                  <a:srgbClr val="1E293B"/>
                </a:solidFill>
                <a:latin typeface="Segoe UI Semibold"/>
              </a:rPr>
              <a:t>Birbaumer 1999 · first EEG speller</a:t>
            </a:r>
          </a:p>
          <a:p>
            <a:pPr algn="l">
              <a:lnSpc>
                <a:spcPct val="100000"/>
              </a:lnSpc>
              <a:spcAft>
                <a:spcPts val="200"/>
              </a:spcAft>
            </a:pPr>
            <a:r>
              <a:rPr sz="1080" b="0" dirty="0">
                <a:solidFill>
                  <a:srgbClr val="647082"/>
                </a:solidFill>
                <a:latin typeface="Segoe UI"/>
              </a:rPr>
              <a:t>proof: </a:t>
            </a:r>
            <a:r>
              <a:rPr sz="1080" b="0" dirty="0" err="1">
                <a:solidFill>
                  <a:srgbClr val="647082"/>
                </a:solidFill>
                <a:latin typeface="Segoe UI"/>
              </a:rPr>
              <a:t>paralysed</a:t>
            </a:r>
            <a:r>
              <a:rPr sz="1080" b="0" dirty="0">
                <a:solidFill>
                  <a:srgbClr val="647082"/>
                </a:solidFill>
                <a:latin typeface="Segoe UI"/>
              </a:rPr>
              <a:t> can spell</a:t>
            </a:r>
          </a:p>
        </p:txBody>
      </p:sp>
      <p:sp>
        <p:nvSpPr>
          <p:cNvPr id="39" name="Oval 38"/>
          <p:cNvSpPr/>
          <p:nvPr/>
        </p:nvSpPr>
        <p:spPr>
          <a:xfrm>
            <a:off x="8473816" y="3764568"/>
            <a:ext cx="100584" cy="100584"/>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84128" y="3654840"/>
            <a:ext cx="2725114" cy="373436"/>
          </a:xfrm>
          <a:prstGeom prst="rect">
            <a:avLst/>
          </a:prstGeom>
          <a:noFill/>
        </p:spPr>
        <p:txBody>
          <a:bodyPr wrap="square" lIns="0" tIns="0" rIns="0" bIns="0" anchor="t">
            <a:spAutoFit/>
          </a:bodyPr>
          <a:lstStyle/>
          <a:p>
            <a:pPr algn="l">
              <a:lnSpc>
                <a:spcPct val="100000"/>
              </a:lnSpc>
              <a:spcAft>
                <a:spcPts val="200"/>
              </a:spcAft>
            </a:pPr>
            <a:r>
              <a:rPr sz="1180" b="1">
                <a:solidFill>
                  <a:srgbClr val="1E293B"/>
                </a:solidFill>
                <a:latin typeface="Segoe UI Semibold"/>
              </a:rPr>
              <a:t>Vansteensel 2016 · implanted BCI</a:t>
            </a:r>
          </a:p>
          <a:p>
            <a:pPr algn="l">
              <a:lnSpc>
                <a:spcPct val="100000"/>
              </a:lnSpc>
              <a:spcAft>
                <a:spcPts val="200"/>
              </a:spcAft>
            </a:pPr>
            <a:r>
              <a:rPr sz="1080" b="0">
                <a:solidFill>
                  <a:srgbClr val="647082"/>
                </a:solidFill>
                <a:latin typeface="Segoe UI"/>
              </a:rPr>
              <a:t>locked-in ALS types at home</a:t>
            </a:r>
          </a:p>
        </p:txBody>
      </p:sp>
      <p:sp>
        <p:nvSpPr>
          <p:cNvPr id="41" name="Oval 40"/>
          <p:cNvSpPr/>
          <p:nvPr/>
        </p:nvSpPr>
        <p:spPr>
          <a:xfrm>
            <a:off x="8473816" y="4971576"/>
            <a:ext cx="100584" cy="100584"/>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4128" y="4861848"/>
            <a:ext cx="2725114" cy="373436"/>
          </a:xfrm>
          <a:prstGeom prst="rect">
            <a:avLst/>
          </a:prstGeom>
          <a:noFill/>
        </p:spPr>
        <p:txBody>
          <a:bodyPr wrap="square" lIns="0" tIns="0" rIns="0" bIns="0" anchor="t">
            <a:spAutoFit/>
          </a:bodyPr>
          <a:lstStyle/>
          <a:p>
            <a:pPr algn="l">
              <a:lnSpc>
                <a:spcPct val="100000"/>
              </a:lnSpc>
              <a:spcAft>
                <a:spcPts val="200"/>
              </a:spcAft>
            </a:pPr>
            <a:r>
              <a:rPr sz="1180" b="1">
                <a:solidFill>
                  <a:srgbClr val="1E293B"/>
                </a:solidFill>
                <a:latin typeface="Segoe UI Semibold"/>
              </a:rPr>
              <a:t>Willett 2023 · 62 wpm speech BCI</a:t>
            </a:r>
          </a:p>
          <a:p>
            <a:pPr algn="l">
              <a:lnSpc>
                <a:spcPct val="100000"/>
              </a:lnSpc>
              <a:spcAft>
                <a:spcPts val="200"/>
              </a:spcAft>
            </a:pPr>
            <a:r>
              <a:rPr sz="1080" b="0">
                <a:solidFill>
                  <a:srgbClr val="647082"/>
                </a:solidFill>
                <a:latin typeface="Segoe UI"/>
              </a:rPr>
              <a:t>frontier, but invasive &amp; per-user</a:t>
            </a:r>
          </a:p>
        </p:txBody>
      </p:sp>
      <p:sp>
        <p:nvSpPr>
          <p:cNvPr id="44" name="TextBox 43"/>
          <p:cNvSpPr txBox="1"/>
          <p:nvPr/>
        </p:nvSpPr>
        <p:spPr>
          <a:xfrm>
            <a:off x="10454335" y="6428232"/>
            <a:ext cx="1188720" cy="320040"/>
          </a:xfrm>
          <a:prstGeom prst="rect">
            <a:avLst/>
          </a:prstGeom>
          <a:noFill/>
        </p:spPr>
        <p:txBody>
          <a:bodyPr wrap="square" lIns="0" tIns="0" rIns="0" bIns="0" anchor="ctr">
            <a:spAutoFit/>
          </a:bodyPr>
          <a:lstStyle/>
          <a:p>
            <a:pPr algn="r"/>
            <a:r>
              <a:rPr sz="900" b="0">
                <a:solidFill>
                  <a:srgbClr val="939EB0"/>
                </a:solidFill>
                <a:latin typeface="Segoe UI"/>
              </a:rPr>
              <a:t>LITERATURE  </a:t>
            </a:r>
            <a:r>
              <a:rPr sz="900" b="1">
                <a:solidFill>
                  <a:srgbClr val="647082"/>
                </a:solidFill>
                <a:latin typeface="Segoe UI"/>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548640" y="530352"/>
            <a:ext cx="146304" cy="475488"/>
          </a:xfrm>
          <a:prstGeom prst="roundRect">
            <a:avLst>
              <a:gd name="adj" fmla="val 50000"/>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10058400" cy="274320"/>
          </a:xfrm>
          <a:prstGeom prst="rect">
            <a:avLst/>
          </a:prstGeom>
          <a:noFill/>
        </p:spPr>
        <p:txBody>
          <a:bodyPr wrap="square" lIns="0" tIns="0" rIns="0" bIns="0" anchor="t">
            <a:spAutoFit/>
          </a:bodyPr>
          <a:lstStyle/>
          <a:p>
            <a:pPr algn="l"/>
            <a:r>
              <a:rPr sz="1100" b="1" spc="220">
                <a:solidFill>
                  <a:srgbClr val="6C5CE7"/>
                </a:solidFill>
                <a:latin typeface="Segoe UI"/>
              </a:rPr>
              <a:t>PROPOSED METHOD</a:t>
            </a:r>
          </a:p>
        </p:txBody>
      </p:sp>
      <p:sp>
        <p:nvSpPr>
          <p:cNvPr id="5" name="TextBox 4"/>
          <p:cNvSpPr txBox="1"/>
          <p:nvPr/>
        </p:nvSpPr>
        <p:spPr>
          <a:xfrm>
            <a:off x="822960" y="676656"/>
            <a:ext cx="10789920" cy="548640"/>
          </a:xfrm>
          <a:prstGeom prst="rect">
            <a:avLst/>
          </a:prstGeom>
          <a:noFill/>
        </p:spPr>
        <p:txBody>
          <a:bodyPr wrap="square" lIns="0" tIns="0" rIns="0" bIns="0" anchor="t">
            <a:spAutoFit/>
          </a:bodyPr>
          <a:lstStyle/>
          <a:p>
            <a:pPr algn="l"/>
            <a:r>
              <a:rPr sz="3000" b="1">
                <a:solidFill>
                  <a:srgbClr val="0E1A2B"/>
                </a:solidFill>
                <a:latin typeface="Segoe UI Semibold"/>
              </a:rPr>
              <a:t>Our Model &amp; Hypothesis</a:t>
            </a:r>
          </a:p>
        </p:txBody>
      </p:sp>
      <p:sp>
        <p:nvSpPr>
          <p:cNvPr id="6" name="Rectangle 5"/>
          <p:cNvSpPr/>
          <p:nvPr/>
        </p:nvSpPr>
        <p:spPr>
          <a:xfrm>
            <a:off x="548640" y="1298448"/>
            <a:ext cx="11094415" cy="16459"/>
          </a:xfrm>
          <a:prstGeom prst="rect">
            <a:avLst/>
          </a:prstGeom>
          <a:solidFill>
            <a:srgbClr val="DDE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426464"/>
            <a:ext cx="11094415" cy="932688"/>
          </a:xfrm>
          <a:prstGeom prst="roundRect">
            <a:avLst>
              <a:gd name="adj" fmla="val 8000"/>
            </a:avLst>
          </a:prstGeom>
          <a:gradFill>
            <a:gsLst>
              <a:gs pos="0">
                <a:srgbClr val="1A183E"/>
              </a:gs>
              <a:gs pos="100000">
                <a:srgbClr val="14223B"/>
              </a:gs>
            </a:gsLst>
            <a:lin ang="18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1536192"/>
            <a:ext cx="2194560" cy="320040"/>
          </a:xfrm>
          <a:prstGeom prst="rect">
            <a:avLst/>
          </a:prstGeom>
          <a:noFill/>
        </p:spPr>
        <p:txBody>
          <a:bodyPr wrap="square" lIns="0" tIns="0" rIns="0" bIns="0" anchor="t">
            <a:spAutoFit/>
          </a:bodyPr>
          <a:lstStyle/>
          <a:p>
            <a:pPr algn="l"/>
            <a:r>
              <a:rPr sz="1200" b="1" spc="250">
                <a:solidFill>
                  <a:srgbClr val="22B8CF"/>
                </a:solidFill>
                <a:latin typeface="Segoe UI"/>
              </a:rPr>
              <a:t>HYPOTHESIS</a:t>
            </a:r>
          </a:p>
        </p:txBody>
      </p:sp>
      <p:sp>
        <p:nvSpPr>
          <p:cNvPr id="12" name="TextBox 11"/>
          <p:cNvSpPr txBox="1"/>
          <p:nvPr/>
        </p:nvSpPr>
        <p:spPr>
          <a:xfrm>
            <a:off x="868680" y="1810512"/>
            <a:ext cx="10637215" cy="455381"/>
          </a:xfrm>
          <a:prstGeom prst="rect">
            <a:avLst/>
          </a:prstGeom>
          <a:noFill/>
        </p:spPr>
        <p:txBody>
          <a:bodyPr wrap="square" lIns="0" tIns="0" rIns="0" bIns="0" anchor="t">
            <a:spAutoFit/>
          </a:bodyPr>
          <a:lstStyle/>
          <a:p>
            <a:pPr algn="l">
              <a:lnSpc>
                <a:spcPct val="110000"/>
              </a:lnSpc>
            </a:pPr>
            <a:r>
              <a:rPr lang="en-US" sz="1400" b="0" dirty="0">
                <a:solidFill>
                  <a:srgbClr val="DDE4F2"/>
                </a:solidFill>
                <a:latin typeface="Segoe UI"/>
              </a:rPr>
              <a:t>Our approach would be initially test and find which probes/channels are more related for our problem to work</a:t>
            </a:r>
            <a:r>
              <a:rPr sz="1400" b="0" dirty="0">
                <a:solidFill>
                  <a:srgbClr val="DDE4F2"/>
                </a:solidFill>
                <a:latin typeface="Segoe UI"/>
              </a:rPr>
              <a:t>.</a:t>
            </a:r>
            <a:r>
              <a:rPr lang="en-US" sz="1400" b="0" dirty="0">
                <a:solidFill>
                  <a:srgbClr val="DDE4F2"/>
                </a:solidFill>
                <a:latin typeface="Segoe UI"/>
              </a:rPr>
              <a:t> Then use customized model</a:t>
            </a:r>
            <a:endParaRPr sz="1400" b="0" dirty="0">
              <a:solidFill>
                <a:srgbClr val="DDE4F2"/>
              </a:solidFill>
              <a:latin typeface="Segoe UI"/>
            </a:endParaRPr>
          </a:p>
        </p:txBody>
      </p:sp>
      <p:sp>
        <p:nvSpPr>
          <p:cNvPr id="13" name="TextBox 12"/>
          <p:cNvSpPr txBox="1"/>
          <p:nvPr/>
        </p:nvSpPr>
        <p:spPr>
          <a:xfrm>
            <a:off x="548640" y="2505456"/>
            <a:ext cx="10058400" cy="169277"/>
          </a:xfrm>
          <a:prstGeom prst="rect">
            <a:avLst/>
          </a:prstGeom>
          <a:noFill/>
        </p:spPr>
        <p:txBody>
          <a:bodyPr wrap="square" lIns="0" tIns="0" rIns="0" bIns="0" anchor="t">
            <a:spAutoFit/>
          </a:bodyPr>
          <a:lstStyle/>
          <a:p>
            <a:pPr algn="l"/>
            <a:r>
              <a:rPr sz="1100" b="1" spc="120" dirty="0">
                <a:solidFill>
                  <a:srgbClr val="6C5CE7"/>
                </a:solidFill>
                <a:latin typeface="Segoe UI"/>
              </a:rPr>
              <a:t>PROPOSED ARCHITECTURE</a:t>
            </a:r>
          </a:p>
        </p:txBody>
      </p:sp>
      <p:sp>
        <p:nvSpPr>
          <p:cNvPr id="14" name="Rounded Rectangle 13"/>
          <p:cNvSpPr/>
          <p:nvPr/>
        </p:nvSpPr>
        <p:spPr>
          <a:xfrm>
            <a:off x="548640" y="3246120"/>
            <a:ext cx="1371600" cy="1371600"/>
          </a:xfrm>
          <a:prstGeom prst="roundRect">
            <a:avLst>
              <a:gd name="adj" fmla="val 10000"/>
            </a:avLst>
          </a:prstGeom>
          <a:solidFill>
            <a:srgbClr val="F4F6FB"/>
          </a:solidFill>
          <a:ln w="12700">
            <a:solidFill>
              <a:srgbClr val="DD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383280"/>
            <a:ext cx="1188720" cy="1188720"/>
          </a:xfrm>
          <a:prstGeom prst="rect">
            <a:avLst/>
          </a:prstGeom>
          <a:noFill/>
        </p:spPr>
        <p:txBody>
          <a:bodyPr wrap="square" lIns="0" tIns="0" rIns="0" bIns="0" anchor="t">
            <a:spAutoFit/>
          </a:bodyPr>
          <a:lstStyle/>
          <a:p>
            <a:pPr algn="ctr">
              <a:lnSpc>
                <a:spcPct val="105000"/>
              </a:lnSpc>
              <a:spcAft>
                <a:spcPts val="200"/>
              </a:spcAft>
            </a:pPr>
            <a:r>
              <a:rPr sz="950" b="1" spc="100" dirty="0">
                <a:solidFill>
                  <a:srgbClr val="0E1A2B"/>
                </a:solidFill>
                <a:latin typeface="Segoe UI"/>
              </a:rPr>
              <a:t>EEG EPOCH</a:t>
            </a:r>
          </a:p>
          <a:p>
            <a:pPr algn="ctr">
              <a:lnSpc>
                <a:spcPct val="105000"/>
              </a:lnSpc>
              <a:spcAft>
                <a:spcPts val="200"/>
              </a:spcAft>
            </a:pPr>
            <a:r>
              <a:rPr sz="1350" b="1" dirty="0">
                <a:solidFill>
                  <a:srgbClr val="1E293B"/>
                </a:solidFill>
                <a:latin typeface="Segoe UI Semibold"/>
              </a:rPr>
              <a:t>32 </a:t>
            </a:r>
            <a:r>
              <a:rPr sz="1350" b="1" dirty="0" err="1">
                <a:solidFill>
                  <a:srgbClr val="1E293B"/>
                </a:solidFill>
                <a:latin typeface="Segoe UI Semibold"/>
              </a:rPr>
              <a:t>ch</a:t>
            </a:r>
            <a:r>
              <a:rPr sz="1350" b="1" dirty="0">
                <a:solidFill>
                  <a:srgbClr val="1E293B"/>
                </a:solidFill>
                <a:latin typeface="Segoe UI Semibold"/>
              </a:rPr>
              <a:t> × 4 s</a:t>
            </a:r>
          </a:p>
          <a:p>
            <a:pPr algn="ctr">
              <a:lnSpc>
                <a:spcPct val="105000"/>
              </a:lnSpc>
              <a:spcAft>
                <a:spcPts val="200"/>
              </a:spcAft>
            </a:pPr>
            <a:r>
              <a:rPr sz="950" b="0" dirty="0">
                <a:solidFill>
                  <a:srgbClr val="647082"/>
                </a:solidFill>
                <a:latin typeface="Segoe UI"/>
              </a:rPr>
              <a:t>preprocessed</a:t>
            </a:r>
          </a:p>
          <a:p>
            <a:pPr algn="ctr">
              <a:lnSpc>
                <a:spcPct val="105000"/>
              </a:lnSpc>
              <a:spcAft>
                <a:spcPts val="200"/>
              </a:spcAft>
            </a:pPr>
            <a:r>
              <a:rPr sz="950" b="0" dirty="0">
                <a:solidFill>
                  <a:srgbClr val="939EB0"/>
                </a:solidFill>
                <a:latin typeface="Segoe UI"/>
              </a:rPr>
              <a:t>5-30 Hz</a:t>
            </a:r>
          </a:p>
        </p:txBody>
      </p:sp>
      <p:sp>
        <p:nvSpPr>
          <p:cNvPr id="17" name="Right Arrow 16"/>
          <p:cNvSpPr/>
          <p:nvPr/>
        </p:nvSpPr>
        <p:spPr>
          <a:xfrm>
            <a:off x="1947672" y="3767328"/>
            <a:ext cx="237744" cy="292608"/>
          </a:xfrm>
          <a:prstGeom prst="rightArrow">
            <a:avLst>
              <a:gd name="adj1" fmla="val 50000"/>
              <a:gd name="adj2" fmla="val 60000"/>
            </a:avLst>
          </a:prstGeom>
          <a:solidFill>
            <a:srgbClr val="B4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240280" y="2852928"/>
            <a:ext cx="2468880" cy="2286000"/>
          </a:xfrm>
          <a:prstGeom prst="roundRect">
            <a:avLst>
              <a:gd name="adj" fmla="val 6000"/>
            </a:avLst>
          </a:prstGeom>
          <a:solidFill>
            <a:srgbClr val="F8F9FD"/>
          </a:solidFill>
          <a:ln w="16510">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04872" y="2944368"/>
            <a:ext cx="2139696" cy="274320"/>
          </a:xfrm>
          <a:prstGeom prst="rect">
            <a:avLst/>
          </a:prstGeom>
          <a:noFill/>
        </p:spPr>
        <p:txBody>
          <a:bodyPr wrap="square" lIns="0" tIns="0" rIns="0" bIns="0" anchor="t">
            <a:spAutoFit/>
          </a:bodyPr>
          <a:lstStyle/>
          <a:p>
            <a:pPr algn="l"/>
            <a:r>
              <a:rPr sz="950" b="1" spc="100" dirty="0">
                <a:solidFill>
                  <a:srgbClr val="5B5BD6"/>
                </a:solidFill>
                <a:latin typeface="Segoe UI"/>
              </a:rPr>
              <a:t>SHARED FRONT-END</a:t>
            </a:r>
          </a:p>
        </p:txBody>
      </p:sp>
      <p:sp>
        <p:nvSpPr>
          <p:cNvPr id="20" name="Rounded Rectangle 19"/>
          <p:cNvSpPr/>
          <p:nvPr/>
        </p:nvSpPr>
        <p:spPr>
          <a:xfrm>
            <a:off x="2459736" y="3273552"/>
            <a:ext cx="2029968" cy="749808"/>
          </a:xfrm>
          <a:prstGeom prst="roundRect">
            <a:avLst>
              <a:gd name="adj" fmla="val 12000"/>
            </a:avLst>
          </a:prstGeom>
          <a:solidFill>
            <a:srgbClr val="FFFFFF"/>
          </a:solidFill>
          <a:ln w="12700">
            <a:solidFill>
              <a:srgbClr val="DD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624328" y="3346704"/>
            <a:ext cx="1901952" cy="640080"/>
          </a:xfrm>
          <a:prstGeom prst="rect">
            <a:avLst/>
          </a:prstGeom>
          <a:noFill/>
        </p:spPr>
        <p:txBody>
          <a:bodyPr wrap="square" lIns="0" tIns="0" rIns="0" bIns="0" anchor="t">
            <a:spAutoFit/>
          </a:bodyPr>
          <a:lstStyle/>
          <a:p>
            <a:pPr algn="l">
              <a:lnSpc>
                <a:spcPct val="100000"/>
              </a:lnSpc>
              <a:spcAft>
                <a:spcPts val="100"/>
              </a:spcAft>
            </a:pPr>
            <a:r>
              <a:rPr sz="1150" b="1">
                <a:solidFill>
                  <a:srgbClr val="1E293B"/>
                </a:solidFill>
                <a:latin typeface="Segoe UI Semibold"/>
              </a:rPr>
              <a:t>Multi-scale Temporal Conv</a:t>
            </a:r>
          </a:p>
          <a:p>
            <a:pPr algn="l">
              <a:lnSpc>
                <a:spcPct val="100000"/>
              </a:lnSpc>
              <a:spcAft>
                <a:spcPts val="100"/>
              </a:spcAft>
            </a:pPr>
            <a:r>
              <a:rPr sz="950" b="0">
                <a:solidFill>
                  <a:srgbClr val="647082"/>
                </a:solidFill>
                <a:latin typeface="Segoe UI"/>
              </a:rPr>
              <a:t>parallel kernels 32 · 64 · 96 · 128</a:t>
            </a:r>
          </a:p>
        </p:txBody>
      </p:sp>
      <p:sp>
        <p:nvSpPr>
          <p:cNvPr id="23" name="Right Arrow 22"/>
          <p:cNvSpPr/>
          <p:nvPr/>
        </p:nvSpPr>
        <p:spPr>
          <a:xfrm>
            <a:off x="3374136" y="4059936"/>
            <a:ext cx="201168" cy="182880"/>
          </a:xfrm>
          <a:prstGeom prst="rightArrow">
            <a:avLst>
              <a:gd name="adj1" fmla="val 50000"/>
              <a:gd name="adj2" fmla="val 60000"/>
            </a:avLst>
          </a:prstGeom>
          <a:solidFill>
            <a:srgbClr val="C4C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459736" y="4279392"/>
            <a:ext cx="2029968" cy="749808"/>
          </a:xfrm>
          <a:prstGeom prst="roundRect">
            <a:avLst>
              <a:gd name="adj" fmla="val 12000"/>
            </a:avLst>
          </a:prstGeom>
          <a:solidFill>
            <a:srgbClr val="FFFFFF"/>
          </a:solidFill>
          <a:ln w="12700">
            <a:solidFill>
              <a:srgbClr val="DD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624328" y="4352544"/>
            <a:ext cx="1901952" cy="640080"/>
          </a:xfrm>
          <a:prstGeom prst="rect">
            <a:avLst/>
          </a:prstGeom>
          <a:noFill/>
        </p:spPr>
        <p:txBody>
          <a:bodyPr wrap="square" lIns="0" tIns="0" rIns="0" bIns="0" anchor="t">
            <a:spAutoFit/>
          </a:bodyPr>
          <a:lstStyle/>
          <a:p>
            <a:pPr algn="l">
              <a:lnSpc>
                <a:spcPct val="100000"/>
              </a:lnSpc>
              <a:spcAft>
                <a:spcPts val="100"/>
              </a:spcAft>
            </a:pPr>
            <a:r>
              <a:rPr sz="1150" b="1" dirty="0" err="1">
                <a:solidFill>
                  <a:srgbClr val="1E293B"/>
                </a:solidFill>
                <a:latin typeface="Segoe UI Semibold"/>
              </a:rPr>
              <a:t>Depthwise</a:t>
            </a:r>
            <a:r>
              <a:rPr sz="1150" b="1" dirty="0">
                <a:solidFill>
                  <a:srgbClr val="1E293B"/>
                </a:solidFill>
                <a:latin typeface="Segoe UI Semibold"/>
              </a:rPr>
              <a:t> Spatial Conv</a:t>
            </a:r>
          </a:p>
          <a:p>
            <a:pPr algn="l">
              <a:lnSpc>
                <a:spcPct val="100000"/>
              </a:lnSpc>
              <a:spcAft>
                <a:spcPts val="100"/>
              </a:spcAft>
            </a:pPr>
            <a:r>
              <a:rPr sz="950" b="0" dirty="0">
                <a:solidFill>
                  <a:srgbClr val="647082"/>
                </a:solidFill>
                <a:latin typeface="Segoe UI"/>
              </a:rPr>
              <a:t>C × 1 · </a:t>
            </a:r>
            <a:r>
              <a:rPr sz="950" b="0" dirty="0" err="1">
                <a:solidFill>
                  <a:srgbClr val="647082"/>
                </a:solidFill>
                <a:latin typeface="Segoe UI"/>
              </a:rPr>
              <a:t>BatchNorm</a:t>
            </a:r>
            <a:r>
              <a:rPr sz="950" b="0" dirty="0">
                <a:solidFill>
                  <a:srgbClr val="647082"/>
                </a:solidFill>
                <a:latin typeface="Segoe UI"/>
              </a:rPr>
              <a:t> · ELU</a:t>
            </a:r>
          </a:p>
        </p:txBody>
      </p:sp>
      <p:sp>
        <p:nvSpPr>
          <p:cNvPr id="27" name="Right Arrow 26"/>
          <p:cNvSpPr/>
          <p:nvPr/>
        </p:nvSpPr>
        <p:spPr>
          <a:xfrm>
            <a:off x="4736592" y="3767328"/>
            <a:ext cx="237744" cy="292608"/>
          </a:xfrm>
          <a:prstGeom prst="rightArrow">
            <a:avLst>
              <a:gd name="adj1" fmla="val 50000"/>
              <a:gd name="adj2" fmla="val 60000"/>
            </a:avLst>
          </a:prstGeom>
          <a:solidFill>
            <a:srgbClr val="B4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029200" y="2852928"/>
            <a:ext cx="4224528" cy="2286000"/>
          </a:xfrm>
          <a:prstGeom prst="roundRect">
            <a:avLst>
              <a:gd name="adj" fmla="val 5000"/>
            </a:avLst>
          </a:prstGeom>
          <a:solidFill>
            <a:srgbClr val="F7F6FE"/>
          </a:solidFill>
          <a:ln w="19050">
            <a:solidFill>
              <a:srgbClr val="6C5C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12080" y="2944368"/>
            <a:ext cx="3858768" cy="146194"/>
          </a:xfrm>
          <a:prstGeom prst="rect">
            <a:avLst/>
          </a:prstGeom>
          <a:noFill/>
        </p:spPr>
        <p:txBody>
          <a:bodyPr wrap="square" lIns="0" tIns="0" rIns="0" bIns="0" anchor="t">
            <a:spAutoFit/>
          </a:bodyPr>
          <a:lstStyle/>
          <a:p>
            <a:pPr algn="l"/>
            <a:r>
              <a:rPr sz="950" b="1" spc="100" dirty="0">
                <a:solidFill>
                  <a:srgbClr val="6C5CE7"/>
                </a:solidFill>
                <a:latin typeface="Segoe UI"/>
              </a:rPr>
              <a:t>DUAL-STREAM ENCODER</a:t>
            </a:r>
            <a:r>
              <a:rPr sz="900" b="0" dirty="0">
                <a:solidFill>
                  <a:srgbClr val="8A83C0"/>
                </a:solidFill>
                <a:latin typeface="Segoe UI"/>
              </a:rPr>
              <a:t>   </a:t>
            </a:r>
            <a:r>
              <a:rPr lang="en-US" sz="900" b="0" dirty="0">
                <a:solidFill>
                  <a:srgbClr val="8A83C0"/>
                </a:solidFill>
                <a:latin typeface="Segoe UI"/>
              </a:rPr>
              <a:t>(</a:t>
            </a:r>
            <a:r>
              <a:rPr sz="900" b="0" dirty="0">
                <a:solidFill>
                  <a:srgbClr val="8A83C0"/>
                </a:solidFill>
                <a:latin typeface="Segoe UI"/>
              </a:rPr>
              <a:t>variance-coupled · our key edge</a:t>
            </a:r>
            <a:r>
              <a:rPr lang="en-US" sz="900" b="0" dirty="0">
                <a:solidFill>
                  <a:srgbClr val="8A83C0"/>
                </a:solidFill>
                <a:latin typeface="Segoe UI"/>
              </a:rPr>
              <a:t>)</a:t>
            </a:r>
            <a:endParaRPr sz="900" b="0" dirty="0">
              <a:solidFill>
                <a:srgbClr val="8A83C0"/>
              </a:solidFill>
              <a:latin typeface="Segoe UI"/>
            </a:endParaRPr>
          </a:p>
        </p:txBody>
      </p:sp>
      <p:sp>
        <p:nvSpPr>
          <p:cNvPr id="30" name="Rounded Rectangle 29"/>
          <p:cNvSpPr/>
          <p:nvPr/>
        </p:nvSpPr>
        <p:spPr>
          <a:xfrm>
            <a:off x="5266944" y="3310128"/>
            <a:ext cx="1371600" cy="749808"/>
          </a:xfrm>
          <a:prstGeom prst="roundRect">
            <a:avLst>
              <a:gd name="adj" fmla="val 12000"/>
            </a:avLst>
          </a:prstGeom>
          <a:solidFill>
            <a:srgbClr val="FFFFFF"/>
          </a:solidFill>
          <a:ln w="12700">
            <a:solidFill>
              <a:srgbClr val="DDE3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94959" y="3429000"/>
            <a:ext cx="1152144" cy="548640"/>
          </a:xfrm>
          <a:prstGeom prst="rect">
            <a:avLst/>
          </a:prstGeom>
          <a:noFill/>
        </p:spPr>
        <p:txBody>
          <a:bodyPr wrap="square" lIns="0" tIns="0" rIns="0" bIns="0" anchor="t">
            <a:spAutoFit/>
          </a:bodyPr>
          <a:lstStyle/>
          <a:p>
            <a:pPr algn="l">
              <a:lnSpc>
                <a:spcPct val="100000"/>
              </a:lnSpc>
              <a:spcAft>
                <a:spcPts val="100"/>
              </a:spcAft>
            </a:pPr>
            <a:r>
              <a:rPr sz="1100" b="1">
                <a:solidFill>
                  <a:srgbClr val="1E293B"/>
                </a:solidFill>
                <a:latin typeface="Segoe UI Semibold"/>
              </a:rPr>
              <a:t>Mean pool</a:t>
            </a:r>
          </a:p>
          <a:p>
            <a:pPr algn="l">
              <a:lnSpc>
                <a:spcPct val="100000"/>
              </a:lnSpc>
              <a:spcAft>
                <a:spcPts val="100"/>
              </a:spcAft>
            </a:pPr>
            <a:r>
              <a:rPr sz="900" b="0">
                <a:solidFill>
                  <a:srgbClr val="647082"/>
                </a:solidFill>
                <a:latin typeface="Segoe UI"/>
              </a:rPr>
              <a:t>Pμ · first order</a:t>
            </a:r>
          </a:p>
        </p:txBody>
      </p:sp>
      <p:sp>
        <p:nvSpPr>
          <p:cNvPr id="32" name="Right Arrow 31"/>
          <p:cNvSpPr/>
          <p:nvPr/>
        </p:nvSpPr>
        <p:spPr>
          <a:xfrm>
            <a:off x="6656831" y="3593592"/>
            <a:ext cx="182880" cy="182880"/>
          </a:xfrm>
          <a:prstGeom prst="rightArrow">
            <a:avLst>
              <a:gd name="adj1" fmla="val 50000"/>
              <a:gd name="adj2" fmla="val 60000"/>
            </a:avLst>
          </a:prstGeom>
          <a:solidFill>
            <a:srgbClr val="C4C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876288" y="3310128"/>
            <a:ext cx="2139696" cy="749808"/>
          </a:xfrm>
          <a:prstGeom prst="roundRect">
            <a:avLst>
              <a:gd name="adj" fmla="val 10000"/>
            </a:avLst>
          </a:prstGeom>
          <a:solidFill>
            <a:srgbClr val="FFFFFF"/>
          </a:solidFill>
          <a:ln w="1524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059168" y="3429000"/>
            <a:ext cx="1865376" cy="548640"/>
          </a:xfrm>
          <a:prstGeom prst="rect">
            <a:avLst/>
          </a:prstGeom>
          <a:noFill/>
        </p:spPr>
        <p:txBody>
          <a:bodyPr wrap="square" lIns="0" tIns="0" rIns="0" bIns="0" anchor="t">
            <a:spAutoFit/>
          </a:bodyPr>
          <a:lstStyle/>
          <a:p>
            <a:pPr algn="l">
              <a:lnSpc>
                <a:spcPct val="100000"/>
              </a:lnSpc>
              <a:spcAft>
                <a:spcPts val="100"/>
              </a:spcAft>
            </a:pPr>
            <a:r>
              <a:rPr sz="1100" b="1">
                <a:solidFill>
                  <a:srgbClr val="1E293B"/>
                </a:solidFill>
                <a:latin typeface="Segoe UI Semibold"/>
              </a:rPr>
              <a:t>Gated Dual-Attention</a:t>
            </a:r>
          </a:p>
          <a:p>
            <a:pPr algn="l">
              <a:lnSpc>
                <a:spcPct val="100000"/>
              </a:lnSpc>
              <a:spcAft>
                <a:spcPts val="100"/>
              </a:spcAft>
            </a:pPr>
            <a:r>
              <a:rPr sz="900" b="0">
                <a:solidFill>
                  <a:srgbClr val="647082"/>
                </a:solidFill>
                <a:latin typeface="Segoe UI"/>
              </a:rPr>
              <a:t>Transformer × 4  ·  spatial + temporal gates</a:t>
            </a:r>
          </a:p>
        </p:txBody>
      </p:sp>
      <p:sp>
        <p:nvSpPr>
          <p:cNvPr id="36" name="Rounded Rectangle 35"/>
          <p:cNvSpPr/>
          <p:nvPr/>
        </p:nvSpPr>
        <p:spPr>
          <a:xfrm>
            <a:off x="5266944" y="4224528"/>
            <a:ext cx="1371600" cy="749808"/>
          </a:xfrm>
          <a:prstGeom prst="roundRect">
            <a:avLst>
              <a:gd name="adj" fmla="val 12000"/>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394959" y="4343400"/>
            <a:ext cx="1152144" cy="548640"/>
          </a:xfrm>
          <a:prstGeom prst="rect">
            <a:avLst/>
          </a:prstGeom>
          <a:noFill/>
        </p:spPr>
        <p:txBody>
          <a:bodyPr wrap="square" lIns="0" tIns="0" rIns="0" bIns="0" anchor="t">
            <a:spAutoFit/>
          </a:bodyPr>
          <a:lstStyle/>
          <a:p>
            <a:pPr algn="l">
              <a:lnSpc>
                <a:spcPct val="100000"/>
              </a:lnSpc>
              <a:spcAft>
                <a:spcPts val="100"/>
              </a:spcAft>
            </a:pPr>
            <a:r>
              <a:rPr sz="1100" b="1" dirty="0">
                <a:solidFill>
                  <a:srgbClr val="FFFFFF"/>
                </a:solidFill>
                <a:latin typeface="Segoe UI Semibold"/>
              </a:rPr>
              <a:t>Log-var pool</a:t>
            </a:r>
          </a:p>
          <a:p>
            <a:pPr algn="l">
              <a:lnSpc>
                <a:spcPct val="100000"/>
              </a:lnSpc>
              <a:spcAft>
                <a:spcPts val="100"/>
              </a:spcAft>
            </a:pPr>
            <a:r>
              <a:rPr sz="900" b="0" dirty="0">
                <a:solidFill>
                  <a:srgbClr val="ECEAFB"/>
                </a:solidFill>
                <a:latin typeface="Segoe UI"/>
              </a:rPr>
              <a:t>Pσ² · band-power</a:t>
            </a:r>
          </a:p>
        </p:txBody>
      </p:sp>
      <p:sp>
        <p:nvSpPr>
          <p:cNvPr id="38" name="Right Arrow 37"/>
          <p:cNvSpPr/>
          <p:nvPr/>
        </p:nvSpPr>
        <p:spPr>
          <a:xfrm>
            <a:off x="6656831" y="4507992"/>
            <a:ext cx="182880" cy="182880"/>
          </a:xfrm>
          <a:prstGeom prst="rightArrow">
            <a:avLst>
              <a:gd name="adj1" fmla="val 50000"/>
              <a:gd name="adj2" fmla="val 60000"/>
            </a:avLst>
          </a:prstGeom>
          <a:solidFill>
            <a:srgbClr val="C4C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6876288" y="4224528"/>
            <a:ext cx="2139696" cy="749808"/>
          </a:xfrm>
          <a:prstGeom prst="roundRect">
            <a:avLst>
              <a:gd name="adj" fmla="val 10000"/>
            </a:avLst>
          </a:prstGeom>
          <a:solidFill>
            <a:srgbClr val="FFFFFF"/>
          </a:solidFill>
          <a:ln w="15240">
            <a:solidFill>
              <a:srgbClr val="6C5C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059168" y="4343400"/>
            <a:ext cx="1865376" cy="548640"/>
          </a:xfrm>
          <a:prstGeom prst="rect">
            <a:avLst/>
          </a:prstGeom>
          <a:noFill/>
        </p:spPr>
        <p:txBody>
          <a:bodyPr wrap="square" lIns="0" tIns="0" rIns="0" bIns="0" anchor="t">
            <a:spAutoFit/>
          </a:bodyPr>
          <a:lstStyle/>
          <a:p>
            <a:pPr algn="l">
              <a:lnSpc>
                <a:spcPct val="100000"/>
              </a:lnSpc>
              <a:spcAft>
                <a:spcPts val="100"/>
              </a:spcAft>
            </a:pPr>
            <a:r>
              <a:rPr sz="1100" b="1">
                <a:solidFill>
                  <a:srgbClr val="1E293B"/>
                </a:solidFill>
                <a:latin typeface="Segoe UI Semibold"/>
              </a:rPr>
              <a:t>Gated Dual-Attention</a:t>
            </a:r>
          </a:p>
          <a:p>
            <a:pPr algn="l">
              <a:lnSpc>
                <a:spcPct val="100000"/>
              </a:lnSpc>
              <a:spcAft>
                <a:spcPts val="100"/>
              </a:spcAft>
            </a:pPr>
            <a:r>
              <a:rPr sz="900" b="0">
                <a:solidFill>
                  <a:srgbClr val="647082"/>
                </a:solidFill>
                <a:latin typeface="Segoe UI"/>
              </a:rPr>
              <a:t>Transformer × 4  ·  spatial + temporal gates</a:t>
            </a:r>
          </a:p>
        </p:txBody>
      </p:sp>
      <p:sp>
        <p:nvSpPr>
          <p:cNvPr id="42" name="Right Arrow 41"/>
          <p:cNvSpPr/>
          <p:nvPr/>
        </p:nvSpPr>
        <p:spPr>
          <a:xfrm>
            <a:off x="9281160" y="3767328"/>
            <a:ext cx="237744" cy="292608"/>
          </a:xfrm>
          <a:prstGeom prst="rightArrow">
            <a:avLst>
              <a:gd name="adj1" fmla="val 50000"/>
              <a:gd name="adj2" fmla="val 60000"/>
            </a:avLst>
          </a:prstGeom>
          <a:solidFill>
            <a:srgbClr val="B4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555480" y="3246120"/>
            <a:ext cx="2087575" cy="1371600"/>
          </a:xfrm>
          <a:prstGeom prst="roundRect">
            <a:avLst>
              <a:gd name="adj" fmla="val 8000"/>
            </a:avLst>
          </a:prstGeom>
          <a:gradFill>
            <a:gsLst>
              <a:gs pos="0">
                <a:srgbClr val="14223B"/>
              </a:gs>
              <a:gs pos="100000">
                <a:srgbClr val="1F1B47"/>
              </a:gs>
            </a:gsLst>
            <a:lin ang="30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01784" y="3364992"/>
            <a:ext cx="1813255" cy="1207008"/>
          </a:xfrm>
          <a:prstGeom prst="rect">
            <a:avLst/>
          </a:prstGeom>
          <a:noFill/>
        </p:spPr>
        <p:txBody>
          <a:bodyPr wrap="square" lIns="0" tIns="0" rIns="0" bIns="0" anchor="t">
            <a:spAutoFit/>
          </a:bodyPr>
          <a:lstStyle/>
          <a:p>
            <a:pPr algn="ctr">
              <a:lnSpc>
                <a:spcPct val="108000"/>
              </a:lnSpc>
              <a:spcAft>
                <a:spcPts val="200"/>
              </a:spcAft>
            </a:pPr>
            <a:r>
              <a:rPr sz="950" b="1" spc="100" dirty="0">
                <a:solidFill>
                  <a:srgbClr val="22B8CF"/>
                </a:solidFill>
                <a:latin typeface="Segoe UI"/>
              </a:rPr>
              <a:t>FUSION HEAD</a:t>
            </a:r>
          </a:p>
          <a:p>
            <a:pPr algn="ctr">
              <a:lnSpc>
                <a:spcPct val="108000"/>
              </a:lnSpc>
              <a:spcAft>
                <a:spcPts val="200"/>
              </a:spcAft>
            </a:pPr>
            <a:r>
              <a:rPr sz="1050" b="1" dirty="0" err="1">
                <a:solidFill>
                  <a:srgbClr val="FFFFFF"/>
                </a:solidFill>
                <a:latin typeface="Segoe UI Semibold"/>
              </a:rPr>
              <a:t>concat</a:t>
            </a:r>
            <a:r>
              <a:rPr sz="1050" b="1" dirty="0">
                <a:solidFill>
                  <a:srgbClr val="FFFFFF"/>
                </a:solidFill>
                <a:latin typeface="Segoe UI Semibold"/>
              </a:rPr>
              <a:t> → conv → </a:t>
            </a:r>
            <a:r>
              <a:rPr sz="1050" b="1" dirty="0" err="1">
                <a:solidFill>
                  <a:srgbClr val="FFFFFF"/>
                </a:solidFill>
                <a:latin typeface="Segoe UI Semibold"/>
              </a:rPr>
              <a:t>softmax</a:t>
            </a:r>
            <a:endParaRPr sz="1050" b="1" dirty="0">
              <a:solidFill>
                <a:srgbClr val="FFFFFF"/>
              </a:solidFill>
              <a:latin typeface="Segoe UI Semibold"/>
            </a:endParaRPr>
          </a:p>
          <a:p>
            <a:pPr algn="ctr">
              <a:lnSpc>
                <a:spcPct val="108000"/>
              </a:lnSpc>
              <a:spcAft>
                <a:spcPts val="200"/>
              </a:spcAft>
            </a:pPr>
            <a:r>
              <a:rPr sz="950" b="0" dirty="0">
                <a:solidFill>
                  <a:srgbClr val="B9C4DA"/>
                </a:solidFill>
                <a:latin typeface="Segoe UI"/>
              </a:rPr>
              <a:t>3 classes</a:t>
            </a:r>
          </a:p>
          <a:p>
            <a:pPr algn="ctr">
              <a:lnSpc>
                <a:spcPct val="108000"/>
              </a:lnSpc>
              <a:spcAft>
                <a:spcPts val="200"/>
              </a:spcAft>
            </a:pPr>
            <a:r>
              <a:rPr sz="1250" b="1" dirty="0">
                <a:solidFill>
                  <a:srgbClr val="FFFFFF"/>
                </a:solidFill>
                <a:latin typeface="Segoe UI Semibold"/>
              </a:rPr>
              <a:t>dog · fish · bird</a:t>
            </a:r>
          </a:p>
        </p:txBody>
      </p:sp>
      <p:sp>
        <p:nvSpPr>
          <p:cNvPr id="48" name="TextBox 47"/>
          <p:cNvSpPr txBox="1"/>
          <p:nvPr/>
        </p:nvSpPr>
        <p:spPr>
          <a:xfrm>
            <a:off x="10454335" y="6428232"/>
            <a:ext cx="1188720" cy="320040"/>
          </a:xfrm>
          <a:prstGeom prst="rect">
            <a:avLst/>
          </a:prstGeom>
          <a:noFill/>
        </p:spPr>
        <p:txBody>
          <a:bodyPr wrap="square" lIns="0" tIns="0" rIns="0" bIns="0" anchor="ctr">
            <a:spAutoFit/>
          </a:bodyPr>
          <a:lstStyle/>
          <a:p>
            <a:pPr algn="r"/>
            <a:r>
              <a:rPr sz="900" b="0" dirty="0">
                <a:solidFill>
                  <a:srgbClr val="939EB0"/>
                </a:solidFill>
                <a:latin typeface="Segoe UI"/>
              </a:rPr>
              <a:t>METHOD  </a:t>
            </a:r>
            <a:r>
              <a:rPr sz="900" b="1" dirty="0">
                <a:solidFill>
                  <a:srgbClr val="647082"/>
                </a:solidFill>
                <a:latin typeface="Segoe UI"/>
              </a:rPr>
              <a:t>06</a:t>
            </a:r>
          </a:p>
        </p:txBody>
      </p:sp>
      <p:pic>
        <p:nvPicPr>
          <p:cNvPr id="49" name="Picture 48">
            <a:extLst>
              <a:ext uri="{FF2B5EF4-FFF2-40B4-BE49-F238E27FC236}">
                <a16:creationId xmlns:a16="http://schemas.microsoft.com/office/drawing/2014/main" id="{BF747273-F4A5-D152-F30C-FFED08E031EF}"/>
              </a:ext>
            </a:extLst>
          </p:cNvPr>
          <p:cNvPicPr>
            <a:picLocks noChangeAspect="1"/>
          </p:cNvPicPr>
          <p:nvPr/>
        </p:nvPicPr>
        <p:blipFill>
          <a:blip r:embed="rId3"/>
          <a:stretch>
            <a:fillRect/>
          </a:stretch>
        </p:blipFill>
        <p:spPr>
          <a:xfrm>
            <a:off x="330292" y="4754880"/>
            <a:ext cx="1873412" cy="2055044"/>
          </a:xfrm>
          <a:prstGeom prst="rect">
            <a:avLst/>
          </a:prstGeom>
        </p:spPr>
      </p:pic>
      <p:sp>
        <p:nvSpPr>
          <p:cNvPr id="51" name="Right Arrow 16">
            <a:extLst>
              <a:ext uri="{FF2B5EF4-FFF2-40B4-BE49-F238E27FC236}">
                <a16:creationId xmlns:a16="http://schemas.microsoft.com/office/drawing/2014/main" id="{C685805E-DD51-8722-FEBA-CBEF61915CA7}"/>
              </a:ext>
            </a:extLst>
          </p:cNvPr>
          <p:cNvSpPr/>
          <p:nvPr/>
        </p:nvSpPr>
        <p:spPr>
          <a:xfrm rot="16200000">
            <a:off x="1517904" y="4581144"/>
            <a:ext cx="237744" cy="292608"/>
          </a:xfrm>
          <a:prstGeom prst="rightArrow">
            <a:avLst>
              <a:gd name="adj1" fmla="val 50000"/>
              <a:gd name="adj2" fmla="val 60000"/>
            </a:avLst>
          </a:prstGeom>
          <a:solidFill>
            <a:srgbClr val="B4BE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548640" y="530352"/>
            <a:ext cx="146304" cy="475488"/>
          </a:xfrm>
          <a:prstGeom prst="roundRect">
            <a:avLst>
              <a:gd name="adj" fmla="val 50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457200"/>
            <a:ext cx="10058400" cy="274320"/>
          </a:xfrm>
          <a:prstGeom prst="rect">
            <a:avLst/>
          </a:prstGeom>
          <a:noFill/>
        </p:spPr>
        <p:txBody>
          <a:bodyPr wrap="square" lIns="0" tIns="0" rIns="0" bIns="0" anchor="t">
            <a:spAutoFit/>
          </a:bodyPr>
          <a:lstStyle/>
          <a:p>
            <a:pPr algn="l"/>
            <a:r>
              <a:rPr sz="1100" b="1" spc="220">
                <a:solidFill>
                  <a:srgbClr val="0EA5E9"/>
                </a:solidFill>
                <a:latin typeface="Segoe UI"/>
              </a:rPr>
              <a:t>EVALUATION</a:t>
            </a:r>
          </a:p>
        </p:txBody>
      </p:sp>
      <p:sp>
        <p:nvSpPr>
          <p:cNvPr id="5" name="TextBox 4"/>
          <p:cNvSpPr txBox="1"/>
          <p:nvPr/>
        </p:nvSpPr>
        <p:spPr>
          <a:xfrm>
            <a:off x="822960" y="676656"/>
            <a:ext cx="10789920" cy="548640"/>
          </a:xfrm>
          <a:prstGeom prst="rect">
            <a:avLst/>
          </a:prstGeom>
          <a:noFill/>
        </p:spPr>
        <p:txBody>
          <a:bodyPr wrap="square" lIns="0" tIns="0" rIns="0" bIns="0" anchor="t">
            <a:spAutoFit/>
          </a:bodyPr>
          <a:lstStyle/>
          <a:p>
            <a:pPr algn="l"/>
            <a:r>
              <a:rPr sz="3000" b="1" dirty="0">
                <a:solidFill>
                  <a:srgbClr val="0E1A2B"/>
                </a:solidFill>
                <a:latin typeface="Segoe UI Semibold"/>
              </a:rPr>
              <a:t>The Bar to Beat &amp; Our Plan</a:t>
            </a:r>
          </a:p>
        </p:txBody>
      </p:sp>
      <p:sp>
        <p:nvSpPr>
          <p:cNvPr id="6" name="Rectangle 5"/>
          <p:cNvSpPr/>
          <p:nvPr/>
        </p:nvSpPr>
        <p:spPr>
          <a:xfrm>
            <a:off x="548640" y="1298448"/>
            <a:ext cx="11094415" cy="16459"/>
          </a:xfrm>
          <a:prstGeom prst="rect">
            <a:avLst/>
          </a:prstGeom>
          <a:solidFill>
            <a:srgbClr val="DDE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572768"/>
            <a:ext cx="5349240" cy="4480560"/>
          </a:xfrm>
          <a:prstGeom prst="roundRect">
            <a:avLst>
              <a:gd name="adj" fmla="val 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47088"/>
            <a:ext cx="4617720" cy="320040"/>
          </a:xfrm>
          <a:prstGeom prst="rect">
            <a:avLst/>
          </a:prstGeom>
          <a:noFill/>
        </p:spPr>
        <p:txBody>
          <a:bodyPr wrap="square" lIns="0" tIns="0" rIns="0" bIns="0" anchor="t">
            <a:spAutoFit/>
          </a:bodyPr>
          <a:lstStyle/>
          <a:p>
            <a:pPr algn="l"/>
            <a:r>
              <a:rPr sz="1300" b="1">
                <a:solidFill>
                  <a:srgbClr val="0E1A2B"/>
                </a:solidFill>
                <a:latin typeface="Segoe UI Semibold"/>
              </a:rPr>
              <a:t>BASELINE TO BEAT: EEGNet (Gao et al., 2026)</a:t>
            </a:r>
          </a:p>
        </p:txBody>
      </p:sp>
      <p:sp>
        <p:nvSpPr>
          <p:cNvPr id="9" name="TextBox 8"/>
          <p:cNvSpPr txBox="1"/>
          <p:nvPr/>
        </p:nvSpPr>
        <p:spPr>
          <a:xfrm>
            <a:off x="914400" y="2194560"/>
            <a:ext cx="4617720" cy="274320"/>
          </a:xfrm>
          <a:prstGeom prst="rect">
            <a:avLst/>
          </a:prstGeom>
          <a:noFill/>
        </p:spPr>
        <p:txBody>
          <a:bodyPr wrap="square" lIns="0" tIns="0" rIns="0" bIns="0" anchor="t">
            <a:spAutoFit/>
          </a:bodyPr>
          <a:lstStyle/>
          <a:p>
            <a:pPr algn="l"/>
            <a:r>
              <a:rPr sz="1080" b="0">
                <a:solidFill>
                  <a:srgbClr val="647082"/>
                </a:solidFill>
                <a:latin typeface="Segoe UI"/>
              </a:rPr>
              <a:t>Within-subject, 3-class within-category · chance = 33%</a:t>
            </a:r>
          </a:p>
        </p:txBody>
      </p:sp>
      <p:sp>
        <p:nvSpPr>
          <p:cNvPr id="10" name="TextBox 9"/>
          <p:cNvSpPr txBox="1"/>
          <p:nvPr/>
        </p:nvSpPr>
        <p:spPr>
          <a:xfrm>
            <a:off x="914400" y="2606040"/>
            <a:ext cx="1005840" cy="365760"/>
          </a:xfrm>
          <a:prstGeom prst="rect">
            <a:avLst/>
          </a:prstGeom>
          <a:noFill/>
        </p:spPr>
        <p:txBody>
          <a:bodyPr wrap="square" lIns="0" tIns="0" rIns="0" bIns="0" anchor="ctr">
            <a:spAutoFit/>
          </a:bodyPr>
          <a:lstStyle/>
          <a:p>
            <a:pPr algn="l"/>
            <a:r>
              <a:rPr sz="1250" b="1">
                <a:solidFill>
                  <a:srgbClr val="1E293B"/>
                </a:solidFill>
                <a:latin typeface="Segoe UI Semibold"/>
              </a:rPr>
              <a:t>Figures</a:t>
            </a:r>
          </a:p>
        </p:txBody>
      </p:sp>
      <p:sp>
        <p:nvSpPr>
          <p:cNvPr id="11" name="Rounded Rectangle 10"/>
          <p:cNvSpPr/>
          <p:nvPr/>
        </p:nvSpPr>
        <p:spPr>
          <a:xfrm>
            <a:off x="1965960" y="2651760"/>
            <a:ext cx="3337560" cy="310896"/>
          </a:xfrm>
          <a:prstGeom prst="roundRect">
            <a:avLst>
              <a:gd name="adj" fmla="val 50000"/>
            </a:avLst>
          </a:prstGeom>
          <a:solidFill>
            <a:srgbClr val="E2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965960" y="2651760"/>
            <a:ext cx="2506507" cy="310896"/>
          </a:xfrm>
          <a:prstGeom prst="roundRect">
            <a:avLst>
              <a:gd name="adj" fmla="val 50000"/>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59" y="2606040"/>
            <a:ext cx="777240" cy="384048"/>
          </a:xfrm>
          <a:prstGeom prst="rect">
            <a:avLst/>
          </a:prstGeom>
          <a:noFill/>
        </p:spPr>
        <p:txBody>
          <a:bodyPr wrap="square" lIns="0" tIns="0" rIns="0" bIns="0" anchor="ctr">
            <a:spAutoFit/>
          </a:bodyPr>
          <a:lstStyle/>
          <a:p>
            <a:pPr algn="r"/>
            <a:r>
              <a:rPr sz="1250" b="1">
                <a:solidFill>
                  <a:srgbClr val="0EA5E9"/>
                </a:solidFill>
                <a:latin typeface="Segoe UI Semibold"/>
              </a:rPr>
              <a:t>75.1%</a:t>
            </a:r>
          </a:p>
        </p:txBody>
      </p:sp>
      <p:sp>
        <p:nvSpPr>
          <p:cNvPr id="14" name="TextBox 13"/>
          <p:cNvSpPr txBox="1"/>
          <p:nvPr/>
        </p:nvSpPr>
        <p:spPr>
          <a:xfrm>
            <a:off x="914400" y="3172968"/>
            <a:ext cx="1005840" cy="365760"/>
          </a:xfrm>
          <a:prstGeom prst="rect">
            <a:avLst/>
          </a:prstGeom>
          <a:noFill/>
        </p:spPr>
        <p:txBody>
          <a:bodyPr wrap="square" lIns="0" tIns="0" rIns="0" bIns="0" anchor="ctr">
            <a:spAutoFit/>
          </a:bodyPr>
          <a:lstStyle/>
          <a:p>
            <a:pPr algn="l"/>
            <a:r>
              <a:rPr sz="1250" b="1">
                <a:solidFill>
                  <a:srgbClr val="1E293B"/>
                </a:solidFill>
                <a:latin typeface="Segoe UI Semibold"/>
              </a:rPr>
              <a:t>Animals</a:t>
            </a:r>
          </a:p>
        </p:txBody>
      </p:sp>
      <p:sp>
        <p:nvSpPr>
          <p:cNvPr id="15" name="Rounded Rectangle 14"/>
          <p:cNvSpPr/>
          <p:nvPr/>
        </p:nvSpPr>
        <p:spPr>
          <a:xfrm>
            <a:off x="1965960" y="3218688"/>
            <a:ext cx="3337560" cy="310896"/>
          </a:xfrm>
          <a:prstGeom prst="roundRect">
            <a:avLst>
              <a:gd name="adj" fmla="val 50000"/>
            </a:avLst>
          </a:prstGeom>
          <a:solidFill>
            <a:srgbClr val="E2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965960" y="3218688"/>
            <a:ext cx="2529870" cy="310896"/>
          </a:xfrm>
          <a:prstGeom prst="roundRect">
            <a:avLst>
              <a:gd name="adj" fmla="val 50000"/>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59" y="3172968"/>
            <a:ext cx="777240" cy="384048"/>
          </a:xfrm>
          <a:prstGeom prst="rect">
            <a:avLst/>
          </a:prstGeom>
          <a:noFill/>
        </p:spPr>
        <p:txBody>
          <a:bodyPr wrap="square" lIns="0" tIns="0" rIns="0" bIns="0" anchor="ctr">
            <a:spAutoFit/>
          </a:bodyPr>
          <a:lstStyle/>
          <a:p>
            <a:pPr algn="r"/>
            <a:r>
              <a:rPr sz="1250" b="1">
                <a:solidFill>
                  <a:srgbClr val="6C5CE7"/>
                </a:solidFill>
                <a:latin typeface="Segoe UI Semibold"/>
              </a:rPr>
              <a:t>75.8%</a:t>
            </a:r>
          </a:p>
        </p:txBody>
      </p:sp>
      <p:sp>
        <p:nvSpPr>
          <p:cNvPr id="18" name="TextBox 17"/>
          <p:cNvSpPr txBox="1"/>
          <p:nvPr/>
        </p:nvSpPr>
        <p:spPr>
          <a:xfrm>
            <a:off x="914400" y="3739896"/>
            <a:ext cx="1005840" cy="365760"/>
          </a:xfrm>
          <a:prstGeom prst="rect">
            <a:avLst/>
          </a:prstGeom>
          <a:noFill/>
        </p:spPr>
        <p:txBody>
          <a:bodyPr wrap="square" lIns="0" tIns="0" rIns="0" bIns="0" anchor="ctr">
            <a:spAutoFit/>
          </a:bodyPr>
          <a:lstStyle/>
          <a:p>
            <a:pPr algn="l"/>
            <a:r>
              <a:rPr sz="1250" b="1" dirty="0">
                <a:solidFill>
                  <a:srgbClr val="1E293B"/>
                </a:solidFill>
                <a:latin typeface="Segoe UI Semibold"/>
              </a:rPr>
              <a:t>Objects</a:t>
            </a:r>
          </a:p>
        </p:txBody>
      </p:sp>
      <p:sp>
        <p:nvSpPr>
          <p:cNvPr id="19" name="Rounded Rectangle 18"/>
          <p:cNvSpPr/>
          <p:nvPr/>
        </p:nvSpPr>
        <p:spPr>
          <a:xfrm>
            <a:off x="1965960" y="3785616"/>
            <a:ext cx="3337560" cy="310896"/>
          </a:xfrm>
          <a:prstGeom prst="roundRect">
            <a:avLst>
              <a:gd name="adj" fmla="val 50000"/>
            </a:avLst>
          </a:prstGeom>
          <a:solidFill>
            <a:srgbClr val="E2E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965960" y="3785616"/>
            <a:ext cx="2069287" cy="310896"/>
          </a:xfrm>
          <a:prstGeom prst="roundRect">
            <a:avLst>
              <a:gd name="adj" fmla="val 50000"/>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80559" y="3739896"/>
            <a:ext cx="777240" cy="384048"/>
          </a:xfrm>
          <a:prstGeom prst="rect">
            <a:avLst/>
          </a:prstGeom>
          <a:noFill/>
        </p:spPr>
        <p:txBody>
          <a:bodyPr wrap="square" lIns="0" tIns="0" rIns="0" bIns="0" anchor="ctr">
            <a:spAutoFit/>
          </a:bodyPr>
          <a:lstStyle/>
          <a:p>
            <a:pPr algn="r"/>
            <a:r>
              <a:rPr sz="1250" b="1" dirty="0">
                <a:solidFill>
                  <a:srgbClr val="EC4899"/>
                </a:solidFill>
                <a:latin typeface="Segoe UI Semibold"/>
              </a:rPr>
              <a:t>62.0%</a:t>
            </a:r>
          </a:p>
        </p:txBody>
      </p:sp>
      <p:sp>
        <p:nvSpPr>
          <p:cNvPr id="22" name="Rounded Rectangle 21"/>
          <p:cNvSpPr/>
          <p:nvPr/>
        </p:nvSpPr>
        <p:spPr>
          <a:xfrm>
            <a:off x="914400" y="4370832"/>
            <a:ext cx="4617720" cy="868680"/>
          </a:xfrm>
          <a:prstGeom prst="roundRect">
            <a:avLst>
              <a:gd name="adj" fmla="val 8000"/>
            </a:avLst>
          </a:prstGeom>
          <a:solidFill>
            <a:srgbClr val="FFFFFF"/>
          </a:solidFill>
          <a:ln w="1651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43000" y="4471416"/>
            <a:ext cx="4297679" cy="685800"/>
          </a:xfrm>
          <a:prstGeom prst="rect">
            <a:avLst/>
          </a:prstGeom>
          <a:noFill/>
        </p:spPr>
        <p:txBody>
          <a:bodyPr wrap="square" lIns="0" tIns="0" rIns="0" bIns="0" anchor="t">
            <a:spAutoFit/>
          </a:bodyPr>
          <a:lstStyle/>
          <a:p>
            <a:pPr algn="l">
              <a:lnSpc>
                <a:spcPct val="108000"/>
              </a:lnSpc>
            </a:pPr>
            <a:r>
              <a:rPr sz="1250" b="1" dirty="0">
                <a:solidFill>
                  <a:srgbClr val="EC4899"/>
                </a:solidFill>
                <a:latin typeface="Segoe UI Semibold"/>
              </a:rPr>
              <a:t>Objects is the weak spot.</a:t>
            </a:r>
            <a:r>
              <a:rPr sz="1150" b="0" dirty="0">
                <a:solidFill>
                  <a:srgbClr val="647082"/>
                </a:solidFill>
                <a:latin typeface="Segoe UI"/>
              </a:rPr>
              <a:t> Closing this gap is our main improvement target, and the hardest, most useful case.</a:t>
            </a:r>
          </a:p>
        </p:txBody>
      </p:sp>
      <p:sp>
        <p:nvSpPr>
          <p:cNvPr id="25" name="TextBox 24"/>
          <p:cNvSpPr txBox="1"/>
          <p:nvPr/>
        </p:nvSpPr>
        <p:spPr>
          <a:xfrm>
            <a:off x="914400" y="5596128"/>
            <a:ext cx="4617720" cy="365760"/>
          </a:xfrm>
          <a:prstGeom prst="rect">
            <a:avLst/>
          </a:prstGeom>
          <a:noFill/>
        </p:spPr>
        <p:txBody>
          <a:bodyPr wrap="square" lIns="0" tIns="0" rIns="0" bIns="0" anchor="t">
            <a:spAutoFit/>
          </a:bodyPr>
          <a:lstStyle/>
          <a:p>
            <a:pPr algn="l"/>
            <a:r>
              <a:rPr sz="1030" b="0">
                <a:solidFill>
                  <a:srgbClr val="939EB0"/>
                </a:solidFill>
                <a:latin typeface="Segoe UI"/>
              </a:rPr>
              <a:t>Dataset: 22 subjects · 32 ch @ 1000 Hz · 2 sessions · open BIDS + baseline code.</a:t>
            </a:r>
          </a:p>
        </p:txBody>
      </p:sp>
      <p:sp>
        <p:nvSpPr>
          <p:cNvPr id="26" name="Rounded Rectangle 25"/>
          <p:cNvSpPr/>
          <p:nvPr/>
        </p:nvSpPr>
        <p:spPr>
          <a:xfrm>
            <a:off x="6080760" y="1572768"/>
            <a:ext cx="5562295" cy="3834993"/>
          </a:xfrm>
          <a:prstGeom prst="roundRect">
            <a:avLst>
              <a:gd name="adj" fmla="val 5000"/>
            </a:avLst>
          </a:prstGeom>
          <a:gradFill>
            <a:gsLst>
              <a:gs pos="0">
                <a:srgbClr val="122038"/>
              </a:gs>
              <a:gs pos="100000">
                <a:srgbClr val="1F1B47"/>
              </a:gs>
            </a:gsLst>
            <a:lin ang="30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64808" y="1865376"/>
            <a:ext cx="4830775" cy="320040"/>
          </a:xfrm>
          <a:prstGeom prst="rect">
            <a:avLst/>
          </a:prstGeom>
          <a:noFill/>
        </p:spPr>
        <p:txBody>
          <a:bodyPr wrap="square" lIns="0" tIns="0" rIns="0" bIns="0" anchor="t">
            <a:spAutoFit/>
          </a:bodyPr>
          <a:lstStyle/>
          <a:p>
            <a:pPr algn="l"/>
            <a:r>
              <a:rPr sz="1200" b="1" spc="220">
                <a:solidFill>
                  <a:srgbClr val="22B8CF"/>
                </a:solidFill>
                <a:latin typeface="Segoe UI"/>
              </a:rPr>
              <a:t>OUR STAGED PLAN</a:t>
            </a:r>
          </a:p>
        </p:txBody>
      </p:sp>
      <p:sp>
        <p:nvSpPr>
          <p:cNvPr id="29" name="Oval 28"/>
          <p:cNvSpPr/>
          <p:nvPr/>
        </p:nvSpPr>
        <p:spPr>
          <a:xfrm>
            <a:off x="6464808" y="2395728"/>
            <a:ext cx="402336" cy="402336"/>
          </a:xfrm>
          <a:prstGeom prst="ellipse">
            <a:avLst/>
          </a:prstGeom>
          <a:solidFill>
            <a:srgbClr val="33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64808" y="2395728"/>
            <a:ext cx="402336" cy="402336"/>
          </a:xfrm>
          <a:prstGeom prst="rect">
            <a:avLst/>
          </a:prstGeom>
          <a:noFill/>
        </p:spPr>
        <p:txBody>
          <a:bodyPr wrap="square" lIns="0" tIns="0" rIns="0" bIns="0" anchor="ctr">
            <a:spAutoFit/>
          </a:bodyPr>
          <a:lstStyle/>
          <a:p>
            <a:pPr algn="ctr"/>
            <a:r>
              <a:rPr sz="1300" b="1">
                <a:solidFill>
                  <a:srgbClr val="FFFFFF"/>
                </a:solidFill>
                <a:latin typeface="Segoe UI Semibold"/>
              </a:rPr>
              <a:t>1</a:t>
            </a:r>
          </a:p>
        </p:txBody>
      </p:sp>
      <p:sp>
        <p:nvSpPr>
          <p:cNvPr id="31" name="TextBox 30"/>
          <p:cNvSpPr txBox="1"/>
          <p:nvPr/>
        </p:nvSpPr>
        <p:spPr>
          <a:xfrm>
            <a:off x="7013448" y="2350008"/>
            <a:ext cx="4282135" cy="685800"/>
          </a:xfrm>
          <a:prstGeom prst="rect">
            <a:avLst/>
          </a:prstGeom>
          <a:noFill/>
        </p:spPr>
        <p:txBody>
          <a:bodyPr wrap="square" lIns="0" tIns="0" rIns="0" bIns="0" anchor="t">
            <a:spAutoFit/>
          </a:bodyPr>
          <a:lstStyle/>
          <a:p>
            <a:pPr algn="l">
              <a:lnSpc>
                <a:spcPct val="105000"/>
              </a:lnSpc>
            </a:pPr>
            <a:r>
              <a:rPr sz="1200" b="0">
                <a:solidFill>
                  <a:srgbClr val="DDE4F2"/>
                </a:solidFill>
                <a:latin typeface="Segoe UI"/>
              </a:rPr>
              <a:t>Reproduce the EEGNet &amp; CSP+KNN baseline, to confirm our pipeline matches their numbers.</a:t>
            </a:r>
          </a:p>
        </p:txBody>
      </p:sp>
      <p:sp>
        <p:nvSpPr>
          <p:cNvPr id="32" name="Oval 31"/>
          <p:cNvSpPr/>
          <p:nvPr/>
        </p:nvSpPr>
        <p:spPr>
          <a:xfrm>
            <a:off x="6464808" y="3145536"/>
            <a:ext cx="402336" cy="402336"/>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64808" y="3145536"/>
            <a:ext cx="402336" cy="402336"/>
          </a:xfrm>
          <a:prstGeom prst="rect">
            <a:avLst/>
          </a:prstGeom>
          <a:noFill/>
        </p:spPr>
        <p:txBody>
          <a:bodyPr wrap="square" lIns="0" tIns="0" rIns="0" bIns="0" anchor="ctr">
            <a:spAutoFit/>
          </a:bodyPr>
          <a:lstStyle/>
          <a:p>
            <a:pPr algn="ctr"/>
            <a:r>
              <a:rPr sz="1300" b="1">
                <a:solidFill>
                  <a:srgbClr val="FFFFFF"/>
                </a:solidFill>
                <a:latin typeface="Segoe UI Semibold"/>
              </a:rPr>
              <a:t>2</a:t>
            </a:r>
          </a:p>
        </p:txBody>
      </p:sp>
      <p:sp>
        <p:nvSpPr>
          <p:cNvPr id="34" name="TextBox 33"/>
          <p:cNvSpPr txBox="1"/>
          <p:nvPr/>
        </p:nvSpPr>
        <p:spPr>
          <a:xfrm>
            <a:off x="7013448" y="3099816"/>
            <a:ext cx="4282135" cy="685800"/>
          </a:xfrm>
          <a:prstGeom prst="rect">
            <a:avLst/>
          </a:prstGeom>
          <a:noFill/>
        </p:spPr>
        <p:txBody>
          <a:bodyPr wrap="square" lIns="0" tIns="0" rIns="0" bIns="0" anchor="t">
            <a:spAutoFit/>
          </a:bodyPr>
          <a:lstStyle/>
          <a:p>
            <a:pPr algn="l">
              <a:lnSpc>
                <a:spcPct val="105000"/>
              </a:lnSpc>
            </a:pPr>
            <a:r>
              <a:rPr sz="1200" b="0">
                <a:solidFill>
                  <a:srgbClr val="DDE4F2"/>
                </a:solidFill>
                <a:latin typeface="Segoe UI"/>
              </a:rPr>
              <a:t>Build &amp; tune the hybrid CNN-Transformer, our core contribution, to beat the baseline.</a:t>
            </a:r>
          </a:p>
        </p:txBody>
      </p:sp>
      <p:sp>
        <p:nvSpPr>
          <p:cNvPr id="35" name="Oval 34"/>
          <p:cNvSpPr/>
          <p:nvPr/>
        </p:nvSpPr>
        <p:spPr>
          <a:xfrm>
            <a:off x="6464808" y="3895344"/>
            <a:ext cx="402336" cy="402336"/>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64808" y="3895344"/>
            <a:ext cx="402336" cy="402336"/>
          </a:xfrm>
          <a:prstGeom prst="rect">
            <a:avLst/>
          </a:prstGeom>
          <a:noFill/>
        </p:spPr>
        <p:txBody>
          <a:bodyPr wrap="square" lIns="0" tIns="0" rIns="0" bIns="0" anchor="ctr">
            <a:spAutoFit/>
          </a:bodyPr>
          <a:lstStyle/>
          <a:p>
            <a:pPr algn="ctr"/>
            <a:r>
              <a:rPr sz="1300" b="1">
                <a:solidFill>
                  <a:srgbClr val="FFFFFF"/>
                </a:solidFill>
                <a:latin typeface="Segoe UI Semibold"/>
              </a:rPr>
              <a:t>3</a:t>
            </a:r>
          </a:p>
        </p:txBody>
      </p:sp>
      <p:sp>
        <p:nvSpPr>
          <p:cNvPr id="37" name="TextBox 36"/>
          <p:cNvSpPr txBox="1"/>
          <p:nvPr/>
        </p:nvSpPr>
        <p:spPr>
          <a:xfrm>
            <a:off x="7013448" y="3849624"/>
            <a:ext cx="4282135" cy="685800"/>
          </a:xfrm>
          <a:prstGeom prst="rect">
            <a:avLst/>
          </a:prstGeom>
          <a:noFill/>
        </p:spPr>
        <p:txBody>
          <a:bodyPr wrap="square" lIns="0" tIns="0" rIns="0" bIns="0" anchor="t">
            <a:spAutoFit/>
          </a:bodyPr>
          <a:lstStyle/>
          <a:p>
            <a:pPr algn="l">
              <a:lnSpc>
                <a:spcPct val="105000"/>
              </a:lnSpc>
            </a:pPr>
            <a:r>
              <a:rPr sz="1200" b="0">
                <a:solidFill>
                  <a:srgbClr val="DDE4F2"/>
                </a:solidFill>
                <a:latin typeface="Segoe UI"/>
              </a:rPr>
              <a:t>Target the object category with attention / augmentation to lift the weakest class.</a:t>
            </a:r>
          </a:p>
        </p:txBody>
      </p:sp>
      <p:sp>
        <p:nvSpPr>
          <p:cNvPr id="38" name="Oval 37"/>
          <p:cNvSpPr/>
          <p:nvPr/>
        </p:nvSpPr>
        <p:spPr>
          <a:xfrm>
            <a:off x="6464808" y="4645152"/>
            <a:ext cx="402336" cy="402336"/>
          </a:xfrm>
          <a:prstGeom prst="ellipse">
            <a:avLst/>
          </a:prstGeom>
          <a:solidFill>
            <a:srgbClr val="6C5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64808" y="4645152"/>
            <a:ext cx="402336" cy="402336"/>
          </a:xfrm>
          <a:prstGeom prst="rect">
            <a:avLst/>
          </a:prstGeom>
          <a:noFill/>
        </p:spPr>
        <p:txBody>
          <a:bodyPr wrap="square" lIns="0" tIns="0" rIns="0" bIns="0" anchor="ctr">
            <a:spAutoFit/>
          </a:bodyPr>
          <a:lstStyle/>
          <a:p>
            <a:pPr algn="ctr"/>
            <a:r>
              <a:rPr sz="1300" b="1">
                <a:solidFill>
                  <a:srgbClr val="FFFFFF"/>
                </a:solidFill>
                <a:latin typeface="Segoe UI Semibold"/>
              </a:rPr>
              <a:t>4</a:t>
            </a:r>
          </a:p>
        </p:txBody>
      </p:sp>
      <p:sp>
        <p:nvSpPr>
          <p:cNvPr id="40" name="TextBox 39"/>
          <p:cNvSpPr txBox="1"/>
          <p:nvPr/>
        </p:nvSpPr>
        <p:spPr>
          <a:xfrm>
            <a:off x="7013448" y="4599432"/>
            <a:ext cx="4282135" cy="685800"/>
          </a:xfrm>
          <a:prstGeom prst="rect">
            <a:avLst/>
          </a:prstGeom>
          <a:noFill/>
        </p:spPr>
        <p:txBody>
          <a:bodyPr wrap="square" lIns="0" tIns="0" rIns="0" bIns="0" anchor="t">
            <a:spAutoFit/>
          </a:bodyPr>
          <a:lstStyle/>
          <a:p>
            <a:pPr algn="l">
              <a:lnSpc>
                <a:spcPct val="105000"/>
              </a:lnSpc>
            </a:pPr>
            <a:r>
              <a:rPr sz="1200" b="0">
                <a:solidFill>
                  <a:srgbClr val="DDE4F2"/>
                </a:solidFill>
                <a:latin typeface="Segoe UI"/>
              </a:rPr>
              <a:t>Add alignment + transfer learning for stability across sessions and less calibration.</a:t>
            </a:r>
          </a:p>
        </p:txBody>
      </p:sp>
      <p:sp>
        <p:nvSpPr>
          <p:cNvPr id="41" name="Rectangle 40"/>
          <p:cNvSpPr/>
          <p:nvPr/>
        </p:nvSpPr>
        <p:spPr>
          <a:xfrm>
            <a:off x="6464808" y="5394960"/>
            <a:ext cx="4794199" cy="12801"/>
          </a:xfrm>
          <a:prstGeom prst="rect">
            <a:avLst/>
          </a:prstGeom>
          <a:solidFill>
            <a:srgbClr val="3A46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54335" y="6428232"/>
            <a:ext cx="1188720" cy="320040"/>
          </a:xfrm>
          <a:prstGeom prst="rect">
            <a:avLst/>
          </a:prstGeom>
          <a:noFill/>
        </p:spPr>
        <p:txBody>
          <a:bodyPr wrap="square" lIns="0" tIns="0" rIns="0" bIns="0" anchor="ctr">
            <a:spAutoFit/>
          </a:bodyPr>
          <a:lstStyle/>
          <a:p>
            <a:pPr algn="r"/>
            <a:r>
              <a:rPr sz="900" b="0">
                <a:solidFill>
                  <a:srgbClr val="939EB0"/>
                </a:solidFill>
                <a:latin typeface="Segoe UI"/>
              </a:rPr>
              <a:t>EVALUATION  </a:t>
            </a:r>
            <a:r>
              <a:rPr sz="900" b="1">
                <a:solidFill>
                  <a:srgbClr val="647082"/>
                </a:solidFill>
                <a:latin typeface="Segoe U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 y="0"/>
            <a:ext cx="12191695" cy="6858000"/>
          </a:xfrm>
          <a:prstGeom prst="rect">
            <a:avLst/>
          </a:prstGeom>
          <a:gradFill>
            <a:gsLst>
              <a:gs pos="0">
                <a:srgbClr val="0E1A2B"/>
              </a:gs>
              <a:gs pos="100000">
                <a:srgbClr val="1A2A4A"/>
              </a:gs>
            </a:gsLst>
            <a:lin ang="36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Freeform 4"/>
          <p:cNvSpPr/>
          <p:nvPr/>
        </p:nvSpPr>
        <p:spPr>
          <a:xfrm>
            <a:off x="0" y="5800245"/>
            <a:ext cx="12191695" cy="262345"/>
          </a:xfrm>
          <a:custGeom>
            <a:avLst/>
            <a:gdLst/>
            <a:ahLst/>
            <a:cxnLst/>
            <a:rect l="l" t="t" r="r" b="b"/>
            <a:pathLst>
              <a:path w="12191695" h="262345">
                <a:moveTo>
                  <a:pt x="0" y="248777"/>
                </a:moveTo>
                <a:lnTo>
                  <a:pt x="47072" y="254475"/>
                </a:lnTo>
                <a:lnTo>
                  <a:pt x="94144" y="258632"/>
                </a:lnTo>
                <a:lnTo>
                  <a:pt x="141216" y="261244"/>
                </a:lnTo>
                <a:lnTo>
                  <a:pt x="188288" y="262345"/>
                </a:lnTo>
                <a:lnTo>
                  <a:pt x="235360" y="262007"/>
                </a:lnTo>
                <a:lnTo>
                  <a:pt x="282433" y="260338"/>
                </a:lnTo>
                <a:lnTo>
                  <a:pt x="329505" y="257481"/>
                </a:lnTo>
                <a:lnTo>
                  <a:pt x="376577" y="253601"/>
                </a:lnTo>
                <a:lnTo>
                  <a:pt x="423649" y="248887"/>
                </a:lnTo>
                <a:lnTo>
                  <a:pt x="470721" y="243540"/>
                </a:lnTo>
                <a:lnTo>
                  <a:pt x="517794" y="237771"/>
                </a:lnTo>
                <a:lnTo>
                  <a:pt x="564866" y="231790"/>
                </a:lnTo>
                <a:lnTo>
                  <a:pt x="611938" y="225802"/>
                </a:lnTo>
                <a:lnTo>
                  <a:pt x="659010" y="219996"/>
                </a:lnTo>
                <a:lnTo>
                  <a:pt x="706082" y="214545"/>
                </a:lnTo>
                <a:lnTo>
                  <a:pt x="753154" y="209597"/>
                </a:lnTo>
                <a:lnTo>
                  <a:pt x="800227" y="205270"/>
                </a:lnTo>
                <a:lnTo>
                  <a:pt x="847299" y="201650"/>
                </a:lnTo>
                <a:lnTo>
                  <a:pt x="894371" y="198788"/>
                </a:lnTo>
                <a:lnTo>
                  <a:pt x="941443" y="196700"/>
                </a:lnTo>
                <a:lnTo>
                  <a:pt x="988515" y="195365"/>
                </a:lnTo>
                <a:lnTo>
                  <a:pt x="1035588" y="194728"/>
                </a:lnTo>
                <a:lnTo>
                  <a:pt x="1082660" y="194703"/>
                </a:lnTo>
                <a:lnTo>
                  <a:pt x="1129732" y="195173"/>
                </a:lnTo>
                <a:lnTo>
                  <a:pt x="1176804" y="196002"/>
                </a:lnTo>
                <a:lnTo>
                  <a:pt x="1223876" y="197033"/>
                </a:lnTo>
                <a:lnTo>
                  <a:pt x="1270948" y="198096"/>
                </a:lnTo>
                <a:lnTo>
                  <a:pt x="1318021" y="199017"/>
                </a:lnTo>
                <a:lnTo>
                  <a:pt x="1365093" y="199624"/>
                </a:lnTo>
                <a:lnTo>
                  <a:pt x="1412165" y="199752"/>
                </a:lnTo>
                <a:lnTo>
                  <a:pt x="1459237" y="199249"/>
                </a:lnTo>
                <a:lnTo>
                  <a:pt x="1506309" y="197986"/>
                </a:lnTo>
                <a:lnTo>
                  <a:pt x="1553382" y="195857"/>
                </a:lnTo>
                <a:lnTo>
                  <a:pt x="1600454" y="192787"/>
                </a:lnTo>
                <a:lnTo>
                  <a:pt x="1647526" y="188735"/>
                </a:lnTo>
                <a:lnTo>
                  <a:pt x="1694598" y="183695"/>
                </a:lnTo>
                <a:lnTo>
                  <a:pt x="1741670" y="177698"/>
                </a:lnTo>
                <a:lnTo>
                  <a:pt x="1788742" y="170812"/>
                </a:lnTo>
                <a:lnTo>
                  <a:pt x="1835815" y="163140"/>
                </a:lnTo>
                <a:lnTo>
                  <a:pt x="1882887" y="154817"/>
                </a:lnTo>
                <a:lnTo>
                  <a:pt x="1929959" y="146008"/>
                </a:lnTo>
                <a:lnTo>
                  <a:pt x="1977031" y="136902"/>
                </a:lnTo>
                <a:lnTo>
                  <a:pt x="2024103" y="127706"/>
                </a:lnTo>
                <a:lnTo>
                  <a:pt x="2071176" y="118638"/>
                </a:lnTo>
                <a:lnTo>
                  <a:pt x="2118248" y="109925"/>
                </a:lnTo>
                <a:lnTo>
                  <a:pt x="2165320" y="101789"/>
                </a:lnTo>
                <a:lnTo>
                  <a:pt x="2212392" y="94446"/>
                </a:lnTo>
                <a:lnTo>
                  <a:pt x="2259464" y="88093"/>
                </a:lnTo>
                <a:lnTo>
                  <a:pt x="2306536" y="82908"/>
                </a:lnTo>
                <a:lnTo>
                  <a:pt x="2353609" y="79041"/>
                </a:lnTo>
                <a:lnTo>
                  <a:pt x="2400681" y="76608"/>
                </a:lnTo>
                <a:lnTo>
                  <a:pt x="2447753" y="75689"/>
                </a:lnTo>
                <a:lnTo>
                  <a:pt x="2494825" y="76324"/>
                </a:lnTo>
                <a:lnTo>
                  <a:pt x="2541897" y="78513"/>
                </a:lnTo>
                <a:lnTo>
                  <a:pt x="2588970" y="82213"/>
                </a:lnTo>
                <a:lnTo>
                  <a:pt x="2636042" y="87342"/>
                </a:lnTo>
                <a:lnTo>
                  <a:pt x="2683114" y="93777"/>
                </a:lnTo>
                <a:lnTo>
                  <a:pt x="2730186" y="101363"/>
                </a:lnTo>
                <a:lnTo>
                  <a:pt x="2777258" y="109913"/>
                </a:lnTo>
                <a:lnTo>
                  <a:pt x="2824330" y="119214"/>
                </a:lnTo>
                <a:lnTo>
                  <a:pt x="2871403" y="129036"/>
                </a:lnTo>
                <a:lnTo>
                  <a:pt x="2918475" y="139134"/>
                </a:lnTo>
                <a:lnTo>
                  <a:pt x="2965547" y="149262"/>
                </a:lnTo>
                <a:lnTo>
                  <a:pt x="3012619" y="159173"/>
                </a:lnTo>
                <a:lnTo>
                  <a:pt x="3059691" y="168630"/>
                </a:lnTo>
                <a:lnTo>
                  <a:pt x="3106764" y="177413"/>
                </a:lnTo>
                <a:lnTo>
                  <a:pt x="3153836" y="185325"/>
                </a:lnTo>
                <a:lnTo>
                  <a:pt x="3200908" y="192196"/>
                </a:lnTo>
                <a:lnTo>
                  <a:pt x="3247980" y="197888"/>
                </a:lnTo>
                <a:lnTo>
                  <a:pt x="3295052" y="202302"/>
                </a:lnTo>
                <a:lnTo>
                  <a:pt x="3342124" y="205375"/>
                </a:lnTo>
                <a:lnTo>
                  <a:pt x="3389197" y="207085"/>
                </a:lnTo>
                <a:lnTo>
                  <a:pt x="3436269" y="207450"/>
                </a:lnTo>
                <a:lnTo>
                  <a:pt x="3483341" y="206525"/>
                </a:lnTo>
                <a:lnTo>
                  <a:pt x="3530413" y="204402"/>
                </a:lnTo>
                <a:lnTo>
                  <a:pt x="3577485" y="201205"/>
                </a:lnTo>
                <a:lnTo>
                  <a:pt x="3624558" y="197084"/>
                </a:lnTo>
                <a:lnTo>
                  <a:pt x="3671630" y="192210"/>
                </a:lnTo>
                <a:lnTo>
                  <a:pt x="3718702" y="186773"/>
                </a:lnTo>
                <a:lnTo>
                  <a:pt x="3765774" y="180968"/>
                </a:lnTo>
                <a:lnTo>
                  <a:pt x="3812846" y="174993"/>
                </a:lnTo>
                <a:lnTo>
                  <a:pt x="3859918" y="169042"/>
                </a:lnTo>
                <a:lnTo>
                  <a:pt x="3906991" y="163296"/>
                </a:lnTo>
                <a:lnTo>
                  <a:pt x="3954063" y="157921"/>
                </a:lnTo>
                <a:lnTo>
                  <a:pt x="4001135" y="153056"/>
                </a:lnTo>
                <a:lnTo>
                  <a:pt x="4048207" y="148815"/>
                </a:lnTo>
                <a:lnTo>
                  <a:pt x="4095279" y="145279"/>
                </a:lnTo>
                <a:lnTo>
                  <a:pt x="4142352" y="142497"/>
                </a:lnTo>
                <a:lnTo>
                  <a:pt x="4189424" y="140480"/>
                </a:lnTo>
                <a:lnTo>
                  <a:pt x="4236496" y="139206"/>
                </a:lnTo>
                <a:lnTo>
                  <a:pt x="4283568" y="138618"/>
                </a:lnTo>
                <a:lnTo>
                  <a:pt x="4330640" y="138625"/>
                </a:lnTo>
                <a:lnTo>
                  <a:pt x="4377712" y="139112"/>
                </a:lnTo>
                <a:lnTo>
                  <a:pt x="4424785" y="139936"/>
                </a:lnTo>
                <a:lnTo>
                  <a:pt x="4471857" y="140939"/>
                </a:lnTo>
                <a:lnTo>
                  <a:pt x="4518929" y="141946"/>
                </a:lnTo>
                <a:lnTo>
                  <a:pt x="4566001" y="142780"/>
                </a:lnTo>
                <a:lnTo>
                  <a:pt x="4613073" y="143263"/>
                </a:lnTo>
                <a:lnTo>
                  <a:pt x="4660146" y="143225"/>
                </a:lnTo>
                <a:lnTo>
                  <a:pt x="4707218" y="142508"/>
                </a:lnTo>
                <a:lnTo>
                  <a:pt x="4754290" y="140977"/>
                </a:lnTo>
                <a:lnTo>
                  <a:pt x="4801362" y="138519"/>
                </a:lnTo>
                <a:lnTo>
                  <a:pt x="4848434" y="135055"/>
                </a:lnTo>
                <a:lnTo>
                  <a:pt x="4895506" y="130538"/>
                </a:lnTo>
                <a:lnTo>
                  <a:pt x="4942579" y="124956"/>
                </a:lnTo>
                <a:lnTo>
                  <a:pt x="4989651" y="118337"/>
                </a:lnTo>
                <a:lnTo>
                  <a:pt x="5036723" y="110747"/>
                </a:lnTo>
                <a:lnTo>
                  <a:pt x="5083795" y="102287"/>
                </a:lnTo>
                <a:lnTo>
                  <a:pt x="5130867" y="93094"/>
                </a:lnTo>
                <a:lnTo>
                  <a:pt x="5177940" y="83335"/>
                </a:lnTo>
                <a:lnTo>
                  <a:pt x="5225012" y="73203"/>
                </a:lnTo>
                <a:lnTo>
                  <a:pt x="5272084" y="62914"/>
                </a:lnTo>
                <a:lnTo>
                  <a:pt x="5319156" y="52695"/>
                </a:lnTo>
                <a:lnTo>
                  <a:pt x="5366228" y="42783"/>
                </a:lnTo>
                <a:lnTo>
                  <a:pt x="5413300" y="33417"/>
                </a:lnTo>
                <a:lnTo>
                  <a:pt x="5460373" y="24825"/>
                </a:lnTo>
                <a:lnTo>
                  <a:pt x="5507445" y="17227"/>
                </a:lnTo>
                <a:lnTo>
                  <a:pt x="5554517" y="10819"/>
                </a:lnTo>
                <a:lnTo>
                  <a:pt x="5601589" y="5771"/>
                </a:lnTo>
                <a:lnTo>
                  <a:pt x="5648661" y="2223"/>
                </a:lnTo>
                <a:lnTo>
                  <a:pt x="5695734" y="278"/>
                </a:lnTo>
                <a:lnTo>
                  <a:pt x="5742806" y="0"/>
                </a:lnTo>
                <a:lnTo>
                  <a:pt x="5789878" y="1413"/>
                </a:lnTo>
                <a:lnTo>
                  <a:pt x="5836950" y="4496"/>
                </a:lnTo>
                <a:lnTo>
                  <a:pt x="5884022" y="9189"/>
                </a:lnTo>
                <a:lnTo>
                  <a:pt x="5931094" y="15392"/>
                </a:lnTo>
                <a:lnTo>
                  <a:pt x="5978167" y="22968"/>
                </a:lnTo>
                <a:lnTo>
                  <a:pt x="6025239" y="31746"/>
                </a:lnTo>
                <a:lnTo>
                  <a:pt x="6072311" y="41529"/>
                </a:lnTo>
                <a:lnTo>
                  <a:pt x="6119383" y="52099"/>
                </a:lnTo>
                <a:lnTo>
                  <a:pt x="6166455" y="63222"/>
                </a:lnTo>
                <a:lnTo>
                  <a:pt x="6213528" y="74655"/>
                </a:lnTo>
                <a:lnTo>
                  <a:pt x="6260600" y="86157"/>
                </a:lnTo>
                <a:lnTo>
                  <a:pt x="6307672" y="97490"/>
                </a:lnTo>
                <a:lnTo>
                  <a:pt x="6354744" y="108433"/>
                </a:lnTo>
                <a:lnTo>
                  <a:pt x="6401816" y="118782"/>
                </a:lnTo>
                <a:lnTo>
                  <a:pt x="6448888" y="128359"/>
                </a:lnTo>
                <a:lnTo>
                  <a:pt x="6495961" y="137017"/>
                </a:lnTo>
                <a:lnTo>
                  <a:pt x="6543033" y="144643"/>
                </a:lnTo>
                <a:lnTo>
                  <a:pt x="6590105" y="151159"/>
                </a:lnTo>
                <a:lnTo>
                  <a:pt x="6637177" y="156528"/>
                </a:lnTo>
                <a:lnTo>
                  <a:pt x="6684249" y="160751"/>
                </a:lnTo>
                <a:lnTo>
                  <a:pt x="6731322" y="163864"/>
                </a:lnTo>
                <a:lnTo>
                  <a:pt x="6778394" y="165941"/>
                </a:lnTo>
                <a:lnTo>
                  <a:pt x="6825466" y="167086"/>
                </a:lnTo>
                <a:lnTo>
                  <a:pt x="6872538" y="167431"/>
                </a:lnTo>
                <a:lnTo>
                  <a:pt x="6919610" y="167131"/>
                </a:lnTo>
                <a:lnTo>
                  <a:pt x="6966682" y="166355"/>
                </a:lnTo>
                <a:lnTo>
                  <a:pt x="7013755" y="165283"/>
                </a:lnTo>
                <a:lnTo>
                  <a:pt x="7060827" y="164096"/>
                </a:lnTo>
                <a:lnTo>
                  <a:pt x="7107899" y="162974"/>
                </a:lnTo>
                <a:lnTo>
                  <a:pt x="7154971" y="162084"/>
                </a:lnTo>
                <a:lnTo>
                  <a:pt x="7202043" y="161577"/>
                </a:lnTo>
                <a:lnTo>
                  <a:pt x="7249116" y="161582"/>
                </a:lnTo>
                <a:lnTo>
                  <a:pt x="7296188" y="162200"/>
                </a:lnTo>
                <a:lnTo>
                  <a:pt x="7343260" y="163502"/>
                </a:lnTo>
                <a:lnTo>
                  <a:pt x="7390332" y="165526"/>
                </a:lnTo>
                <a:lnTo>
                  <a:pt x="7437404" y="168273"/>
                </a:lnTo>
                <a:lnTo>
                  <a:pt x="7484476" y="171711"/>
                </a:lnTo>
                <a:lnTo>
                  <a:pt x="7531549" y="175771"/>
                </a:lnTo>
                <a:lnTo>
                  <a:pt x="7578621" y="180356"/>
                </a:lnTo>
                <a:lnTo>
                  <a:pt x="7625693" y="185335"/>
                </a:lnTo>
                <a:lnTo>
                  <a:pt x="7672765" y="190557"/>
                </a:lnTo>
                <a:lnTo>
                  <a:pt x="7719837" y="195848"/>
                </a:lnTo>
                <a:lnTo>
                  <a:pt x="7766910" y="201024"/>
                </a:lnTo>
                <a:lnTo>
                  <a:pt x="7813982" y="205893"/>
                </a:lnTo>
                <a:lnTo>
                  <a:pt x="7861054" y="210261"/>
                </a:lnTo>
                <a:lnTo>
                  <a:pt x="7908126" y="213943"/>
                </a:lnTo>
                <a:lnTo>
                  <a:pt x="7955198" y="216768"/>
                </a:lnTo>
                <a:lnTo>
                  <a:pt x="8002270" y="218583"/>
                </a:lnTo>
                <a:lnTo>
                  <a:pt x="8049343" y="219261"/>
                </a:lnTo>
                <a:lnTo>
                  <a:pt x="8096415" y="218706"/>
                </a:lnTo>
                <a:lnTo>
                  <a:pt x="8143487" y="216855"/>
                </a:lnTo>
                <a:lnTo>
                  <a:pt x="8190559" y="213684"/>
                </a:lnTo>
                <a:lnTo>
                  <a:pt x="8237631" y="209208"/>
                </a:lnTo>
                <a:lnTo>
                  <a:pt x="8284704" y="203481"/>
                </a:lnTo>
                <a:lnTo>
                  <a:pt x="8331776" y="196593"/>
                </a:lnTo>
                <a:lnTo>
                  <a:pt x="8378848" y="188675"/>
                </a:lnTo>
                <a:lnTo>
                  <a:pt x="8425920" y="179889"/>
                </a:lnTo>
                <a:lnTo>
                  <a:pt x="8472992" y="170425"/>
                </a:lnTo>
                <a:lnTo>
                  <a:pt x="8520064" y="160498"/>
                </a:lnTo>
                <a:lnTo>
                  <a:pt x="8567137" y="150341"/>
                </a:lnTo>
                <a:lnTo>
                  <a:pt x="8614209" y="140195"/>
                </a:lnTo>
                <a:lnTo>
                  <a:pt x="8661281" y="130307"/>
                </a:lnTo>
                <a:lnTo>
                  <a:pt x="8708353" y="120919"/>
                </a:lnTo>
                <a:lnTo>
                  <a:pt x="8755425" y="112264"/>
                </a:lnTo>
                <a:lnTo>
                  <a:pt x="8802498" y="104556"/>
                </a:lnTo>
                <a:lnTo>
                  <a:pt x="8849570" y="97985"/>
                </a:lnTo>
                <a:lnTo>
                  <a:pt x="8896642" y="92711"/>
                </a:lnTo>
                <a:lnTo>
                  <a:pt x="8943714" y="88861"/>
                </a:lnTo>
                <a:lnTo>
                  <a:pt x="8990786" y="86524"/>
                </a:lnTo>
                <a:lnTo>
                  <a:pt x="9037858" y="85746"/>
                </a:lnTo>
                <a:lnTo>
                  <a:pt x="9084931" y="86536"/>
                </a:lnTo>
                <a:lnTo>
                  <a:pt x="9132003" y="88856"/>
                </a:lnTo>
                <a:lnTo>
                  <a:pt x="9179075" y="92632"/>
                </a:lnTo>
                <a:lnTo>
                  <a:pt x="9226147" y="97751"/>
                </a:lnTo>
                <a:lnTo>
                  <a:pt x="9273219" y="104066"/>
                </a:lnTo>
                <a:lnTo>
                  <a:pt x="9320292" y="111400"/>
                </a:lnTo>
                <a:lnTo>
                  <a:pt x="9367364" y="119555"/>
                </a:lnTo>
                <a:lnTo>
                  <a:pt x="9414436" y="128314"/>
                </a:lnTo>
                <a:lnTo>
                  <a:pt x="9461508" y="137450"/>
                </a:lnTo>
                <a:lnTo>
                  <a:pt x="9508580" y="146733"/>
                </a:lnTo>
                <a:lnTo>
                  <a:pt x="9555652" y="155937"/>
                </a:lnTo>
                <a:lnTo>
                  <a:pt x="9602725" y="164846"/>
                </a:lnTo>
                <a:lnTo>
                  <a:pt x="9649797" y="173264"/>
                </a:lnTo>
                <a:lnTo>
                  <a:pt x="9696869" y="181013"/>
                </a:lnTo>
                <a:lnTo>
                  <a:pt x="9743941" y="187949"/>
                </a:lnTo>
                <a:lnTo>
                  <a:pt x="9791013" y="193956"/>
                </a:lnTo>
                <a:lnTo>
                  <a:pt x="9838086" y="198954"/>
                </a:lnTo>
                <a:lnTo>
                  <a:pt x="9885158" y="202902"/>
                </a:lnTo>
                <a:lnTo>
                  <a:pt x="9932230" y="205794"/>
                </a:lnTo>
                <a:lnTo>
                  <a:pt x="9979302" y="207662"/>
                </a:lnTo>
                <a:lnTo>
                  <a:pt x="10026374" y="208571"/>
                </a:lnTo>
                <a:lnTo>
                  <a:pt x="10073446" y="208620"/>
                </a:lnTo>
                <a:lnTo>
                  <a:pt x="10120519" y="207932"/>
                </a:lnTo>
                <a:lnTo>
                  <a:pt x="10167591" y="206655"/>
                </a:lnTo>
                <a:lnTo>
                  <a:pt x="10214663" y="204952"/>
                </a:lnTo>
                <a:lnTo>
                  <a:pt x="10261735" y="202998"/>
                </a:lnTo>
                <a:lnTo>
                  <a:pt x="10308807" y="200967"/>
                </a:lnTo>
                <a:lnTo>
                  <a:pt x="10355880" y="199035"/>
                </a:lnTo>
                <a:lnTo>
                  <a:pt x="10402952" y="197365"/>
                </a:lnTo>
                <a:lnTo>
                  <a:pt x="10450024" y="196103"/>
                </a:lnTo>
                <a:lnTo>
                  <a:pt x="10497096" y="195377"/>
                </a:lnTo>
                <a:lnTo>
                  <a:pt x="10544168" y="195283"/>
                </a:lnTo>
                <a:lnTo>
                  <a:pt x="10591241" y="195892"/>
                </a:lnTo>
                <a:lnTo>
                  <a:pt x="10638313" y="197237"/>
                </a:lnTo>
                <a:lnTo>
                  <a:pt x="10685385" y="199318"/>
                </a:lnTo>
                <a:lnTo>
                  <a:pt x="10732457" y="202099"/>
                </a:lnTo>
                <a:lnTo>
                  <a:pt x="10779529" y="205508"/>
                </a:lnTo>
                <a:lnTo>
                  <a:pt x="10826601" y="209442"/>
                </a:lnTo>
                <a:lnTo>
                  <a:pt x="10873674" y="213766"/>
                </a:lnTo>
                <a:lnTo>
                  <a:pt x="10920746" y="218321"/>
                </a:lnTo>
                <a:lnTo>
                  <a:pt x="10967818" y="222926"/>
                </a:lnTo>
                <a:lnTo>
                  <a:pt x="11014890" y="227388"/>
                </a:lnTo>
                <a:lnTo>
                  <a:pt x="11061962" y="231503"/>
                </a:lnTo>
                <a:lnTo>
                  <a:pt x="11109035" y="235068"/>
                </a:lnTo>
                <a:lnTo>
                  <a:pt x="11156107" y="237885"/>
                </a:lnTo>
                <a:lnTo>
                  <a:pt x="11203179" y="239767"/>
                </a:lnTo>
                <a:lnTo>
                  <a:pt x="11250251" y="240547"/>
                </a:lnTo>
                <a:lnTo>
                  <a:pt x="11297323" y="240086"/>
                </a:lnTo>
                <a:lnTo>
                  <a:pt x="11344395" y="238269"/>
                </a:lnTo>
                <a:lnTo>
                  <a:pt x="11391468" y="235022"/>
                </a:lnTo>
                <a:lnTo>
                  <a:pt x="11438540" y="230305"/>
                </a:lnTo>
                <a:lnTo>
                  <a:pt x="11485612" y="224118"/>
                </a:lnTo>
                <a:lnTo>
                  <a:pt x="11532684" y="216502"/>
                </a:lnTo>
                <a:lnTo>
                  <a:pt x="11579756" y="207540"/>
                </a:lnTo>
                <a:lnTo>
                  <a:pt x="11626829" y="197350"/>
                </a:lnTo>
                <a:lnTo>
                  <a:pt x="11673901" y="186089"/>
                </a:lnTo>
                <a:lnTo>
                  <a:pt x="11720973" y="173942"/>
                </a:lnTo>
                <a:lnTo>
                  <a:pt x="11768045" y="161123"/>
                </a:lnTo>
                <a:lnTo>
                  <a:pt x="11815117" y="147865"/>
                </a:lnTo>
                <a:lnTo>
                  <a:pt x="11862189" y="134415"/>
                </a:lnTo>
                <a:lnTo>
                  <a:pt x="11909262" y="121026"/>
                </a:lnTo>
                <a:lnTo>
                  <a:pt x="11956334" y="107951"/>
                </a:lnTo>
                <a:lnTo>
                  <a:pt x="12003406" y="95435"/>
                </a:lnTo>
                <a:lnTo>
                  <a:pt x="12050478" y="83709"/>
                </a:lnTo>
                <a:lnTo>
                  <a:pt x="12097550" y="72981"/>
                </a:lnTo>
                <a:lnTo>
                  <a:pt x="12144623" y="63432"/>
                </a:lnTo>
                <a:lnTo>
                  <a:pt x="12191695" y="55212"/>
                </a:lnTo>
              </a:path>
            </a:pathLst>
          </a:custGeom>
          <a:noFill/>
          <a:ln w="19050">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03120"/>
            <a:ext cx="10424160" cy="1005840"/>
          </a:xfrm>
          <a:prstGeom prst="rect">
            <a:avLst/>
          </a:prstGeom>
          <a:noFill/>
        </p:spPr>
        <p:txBody>
          <a:bodyPr wrap="square" lIns="0" tIns="0" rIns="0" bIns="0" anchor="t">
            <a:spAutoFit/>
          </a:bodyPr>
          <a:lstStyle/>
          <a:p>
            <a:pPr algn="l"/>
            <a:r>
              <a:rPr sz="5200" b="1">
                <a:solidFill>
                  <a:srgbClr val="FFFFFF"/>
                </a:solidFill>
                <a:latin typeface="Segoe UI Semibold"/>
              </a:rPr>
              <a:t>Thank you</a:t>
            </a:r>
          </a:p>
        </p:txBody>
      </p:sp>
      <p:sp>
        <p:nvSpPr>
          <p:cNvPr id="7" name="Rounded Rectangle 6"/>
          <p:cNvSpPr/>
          <p:nvPr/>
        </p:nvSpPr>
        <p:spPr>
          <a:xfrm>
            <a:off x="941832" y="3154680"/>
            <a:ext cx="1828800" cy="50292"/>
          </a:xfrm>
          <a:prstGeom prst="roundRect">
            <a:avLst>
              <a:gd name="adj" fmla="val 50000"/>
            </a:avLst>
          </a:prstGeom>
          <a:gradFill>
            <a:gsLst>
              <a:gs pos="0">
                <a:srgbClr val="6C5CE7"/>
              </a:gs>
              <a:gs pos="100000">
                <a:srgbClr val="22B8CF"/>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383280"/>
            <a:ext cx="10058400" cy="457200"/>
          </a:xfrm>
          <a:prstGeom prst="rect">
            <a:avLst/>
          </a:prstGeom>
          <a:noFill/>
        </p:spPr>
        <p:txBody>
          <a:bodyPr wrap="square" lIns="0" tIns="0" rIns="0" bIns="0" anchor="t">
            <a:spAutoFit/>
          </a:bodyPr>
          <a:lstStyle/>
          <a:p>
            <a:pPr algn="l"/>
            <a:r>
              <a:rPr sz="2000" b="0">
                <a:solidFill>
                  <a:srgbClr val="B9C4DA"/>
                </a:solidFill>
                <a:latin typeface="Segoe UI"/>
              </a:rPr>
              <a:t>Questions &amp; Discussion</a:t>
            </a:r>
          </a:p>
        </p:txBody>
      </p:sp>
      <p:sp>
        <p:nvSpPr>
          <p:cNvPr id="9" name="TextBox 8"/>
          <p:cNvSpPr txBox="1"/>
          <p:nvPr/>
        </p:nvSpPr>
        <p:spPr>
          <a:xfrm>
            <a:off x="914400" y="4279392"/>
            <a:ext cx="10607040" cy="822960"/>
          </a:xfrm>
          <a:prstGeom prst="rect">
            <a:avLst/>
          </a:prstGeom>
          <a:noFill/>
        </p:spPr>
        <p:txBody>
          <a:bodyPr wrap="square" lIns="0" tIns="0" rIns="0" bIns="0" anchor="t">
            <a:spAutoFit/>
          </a:bodyPr>
          <a:lstStyle/>
          <a:p>
            <a:pPr algn="l">
              <a:lnSpc>
                <a:spcPct val="110000"/>
              </a:lnSpc>
            </a:pPr>
            <a:r>
              <a:rPr sz="1500" b="1">
                <a:solidFill>
                  <a:srgbClr val="22B8CF"/>
                </a:solidFill>
                <a:latin typeface="Segoe UI Semibold"/>
              </a:rPr>
              <a:t>A stronger, lighter VI decoder</a:t>
            </a:r>
            <a:r>
              <a:rPr sz="1500" b="0">
                <a:solidFill>
                  <a:srgbClr val="AEBAD2"/>
                </a:solidFill>
                <a:latin typeface="Segoe UI"/>
              </a:rPr>
              <a:t> that beats the EEGNet baseline, so a BCI can actually help ALS &amp; locked-in users.</a:t>
            </a:r>
          </a:p>
        </p:txBody>
      </p:sp>
      <p:sp>
        <p:nvSpPr>
          <p:cNvPr id="10" name="TextBox 9"/>
          <p:cNvSpPr txBox="1"/>
          <p:nvPr/>
        </p:nvSpPr>
        <p:spPr>
          <a:xfrm>
            <a:off x="914400" y="5230368"/>
            <a:ext cx="10058400" cy="365760"/>
          </a:xfrm>
          <a:prstGeom prst="rect">
            <a:avLst/>
          </a:prstGeom>
          <a:noFill/>
        </p:spPr>
        <p:txBody>
          <a:bodyPr wrap="square" lIns="0" tIns="0" rIns="0" bIns="0" anchor="t">
            <a:spAutoFit/>
          </a:bodyPr>
          <a:lstStyle/>
          <a:p>
            <a:pPr algn="l"/>
            <a:r>
              <a:rPr sz="1400" b="1">
                <a:solidFill>
                  <a:srgbClr val="FFFFFF"/>
                </a:solidFill>
                <a:latin typeface="Segoe UI Semibold"/>
              </a:rPr>
              <a:t>Sajin  &amp;  Saif</a:t>
            </a:r>
            <a:r>
              <a:rPr sz="1400" b="0">
                <a:solidFill>
                  <a:srgbClr val="939EB0"/>
                </a:solidFill>
                <a:latin typeface="Segoe UI"/>
              </a:rPr>
              <a:t>   ·   DreamEEG   ·   Midterm Proposal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1522</Words>
  <Application>Microsoft Office PowerPoint</Application>
  <PresentationFormat>Widescreen</PresentationFormat>
  <Paragraphs>145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Md Imtiaj Alam Sajin</cp:lastModifiedBy>
  <cp:revision>31</cp:revision>
  <dcterms:created xsi:type="dcterms:W3CDTF">2013-01-27T09:14:16Z</dcterms:created>
  <dcterms:modified xsi:type="dcterms:W3CDTF">2026-07-20T15:16:54Z</dcterms:modified>
  <cp:category/>
</cp:coreProperties>
</file>